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はじめに" id="{2A330FB4-610B-A313-2662-00431DB21018}">
          <p14:sldIdLst>
            <p14:sldId id="256"/>
            <p14:sldId id="257"/>
            <p14:sldId id="258"/>
            <p14:sldId id="259"/>
          </p14:sldIdLst>
        </p14:section>
        <p14:section name="データ" id="{905BC7B0-B5A9-4898-9D1E-12D341933C21}">
          <p14:sldIdLst>
            <p14:sldId id="260"/>
            <p14:sldId id="261"/>
            <p14:sldId id="262"/>
            <p14:sldId id="263"/>
            <p14:sldId id="264"/>
          </p14:sldIdLst>
        </p14:section>
        <p14:section name="更新し続ける仕組み" id="{39B62D04-5E55-65FC-8EC1-2F0093CDA0A6}">
          <p14:sldIdLst>
            <p14:sldId id="265"/>
            <p14:sldId id="266"/>
            <p14:sldId id="267"/>
            <p14:sldId id="268"/>
            <p14:sldId id="269"/>
          </p14:sldIdLst>
        </p14:section>
        <p14:section name="公開" id="{1E5E2C6A-D2F2-B926-779B-CB01BF97FA26}">
          <p14:sldIdLst>
            <p14:sldId id="270"/>
            <p14:sldId id="271"/>
          </p14:sldIdLst>
        </p14:section>
        <p14:section name="まとめ" id="{0221B513-C660-CF5B-AD89-F96EF14D6D37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9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4532D"/>
                </a:solidFill>
                <a:latin typeface="BIZ UDPGothic"/>
              </a:defRPr>
            </a:pPr>
            <a:r>
              <a:rPr sz="1500" b="0" i="0" u="none" strike="noStrike">
                <a:solidFill>
                  <a:srgbClr val="14532D"/>
                </a:solidFill>
                <a:latin typeface="BIZ UDPGothic"/>
              </a:rPr>
              <a:t>ガイドライン別の値 394 件の内訳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件数</c:v>
                </c:pt>
              </c:strCache>
            </c:strRef>
          </c:tx>
          <c:spPr>
            <a:solidFill>
              <a:srgbClr val="2B664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A1A1C"/>
                    </a:solidFill>
                    <a:latin typeface="BIZ UDPGothic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直接記載 (direct)</c:v>
                </c:pt>
                <c:pt idx="1">
                  <c:v>クラスの当てはめ (class)</c:v>
                </c:pt>
                <c:pt idx="2">
                  <c:v>計算値 (derived)</c:v>
                </c:pt>
                <c:pt idx="3">
                  <c:v>未分類 (添付文書など)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248</c:v>
                </c:pt>
                <c:pt idx="1">
                  <c:v>31</c:v>
                </c:pt>
                <c:pt idx="2">
                  <c:v>9</c:v>
                </c:pt>
                <c:pt idx="3">
                  <c:v>106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E4-485A-A917-9E56B605F82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A1A1C"/>
                </a:solidFill>
                <a:latin typeface="BIZ UDPGothic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4532D"/>
                </a:solidFill>
                <a:latin typeface="BIZ UDPGothic"/>
              </a:defRPr>
            </a:pPr>
            <a:r>
              <a:rPr sz="1500" b="0" i="0" u="none" strike="noStrike">
                <a:solidFill>
                  <a:srgbClr val="14532D"/>
                </a:solidFill>
                <a:latin typeface="BIZ UDPGothic"/>
              </a:rPr>
              <a:t>出典 544 件の確認状況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出典</c:v>
                </c:pt>
              </c:strCache>
            </c:strRef>
          </c:tx>
          <c:spPr>
            <a:solidFill>
              <a:srgbClr val="2B664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A1A1C"/>
                    </a:solidFill>
                    <a:latin typeface="BIZ UDPGothic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verified (原文と照合済み)</c:v>
                </c:pt>
                <c:pt idx="1">
                  <c:v>helper_link (補助的な参照先)</c:v>
                </c:pt>
                <c:pt idx="2">
                  <c:v>landing_only (入口ページ)</c:v>
                </c:pt>
                <c:pt idx="3">
                  <c:v>unverified (未確認)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259</c:v>
                </c:pt>
                <c:pt idx="1">
                  <c:v>182</c:v>
                </c:pt>
                <c:pt idx="2">
                  <c:v>82</c:v>
                </c:pt>
                <c:pt idx="3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E99-4B98-B8BE-34BEB70E6DB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A1A1C"/>
                </a:solidFill>
                <a:latin typeface="BIZ UDPGothic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7621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1072865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ja-JP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ja-JP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520440"/>
            <a:ext cx="10728655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ja-JP" sz="18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ja-JP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ja-JP" sz="30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ja-JP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sz="1100" dirty="0">
                <a:solidFill>
                  <a:schemeClr val="accent5"/>
                </a:solidFill>
              </a:rPr>
              <a:t>休薬情報データベース (Kyuyaku Data) ・ </a:t>
            </a:r>
            <a:r>
              <a:rPr lang="en-US" altLang="ja-JP" sz="1100" dirty="0">
                <a:solidFill>
                  <a:schemeClr val="accent5"/>
                </a:solidFill>
              </a:rPr>
              <a:t>Naoyuki </a:t>
            </a:r>
            <a:r>
              <a:rPr lang="en-US" altLang="ja-JP" sz="1100" dirty="0" err="1">
                <a:solidFill>
                  <a:schemeClr val="accent5"/>
                </a:solidFill>
              </a:rPr>
              <a:t>Umetani</a:t>
            </a:r>
            <a:endParaRPr lang="ja-JP" sz="11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ja-JP" sz="3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ja-JP" sz="30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BIZ UDPGothic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BIZ UDPGothic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BIZ UDPGothic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BIZ UDPGothic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BIZ UDPGothic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BIZ UDPGothic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BIZ UDPGothic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BIZ UDPGothic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BIZ UDPGothic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BIZ UDPGothic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BIZ UDPGothic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BIZ UDPGothic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BIZ UDPGothic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BIZ UDPGothic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BIZ UDPGothic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BIZ UDPGothic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BIZ UDPGothic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BIZ UDPGothic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BIZ UDPGothic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107286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ja-JP" sz="4000" b="1" dirty="0">
                <a:solidFill>
                  <a:schemeClr val="bg1"/>
                </a:solidFill>
              </a:rPr>
              <a:t>休薬情報データベース (Kyuyaku Data)</a:t>
            </a:r>
            <a:endParaRPr lang="ja-JP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520440"/>
            <a:ext cx="107286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400"/>
              </a:spcAft>
              <a:buNone/>
            </a:pPr>
            <a:r>
              <a:rPr lang="ja-JP" sz="1800" dirty="0">
                <a:solidFill>
                  <a:schemeClr val="bg2"/>
                </a:solidFill>
              </a:rPr>
              <a:t>周術期・造影 CT 検査前の休薬情報を、一次資料に基づいて整理したオープンデータ</a:t>
            </a:r>
            <a:endParaRPr lang="ja-JP" sz="1800" dirty="0"/>
          </a:p>
          <a:p>
            <a:pPr marL="0" indent="0">
              <a:spcAft>
                <a:spcPts val="600"/>
              </a:spcAft>
              <a:buNone/>
            </a:pPr>
            <a:r>
              <a:rPr lang="ja-JP" sz="1800" b="1" dirty="0">
                <a:solidFill>
                  <a:schemeClr val="bg1"/>
                </a:solidFill>
              </a:rPr>
              <a:t>梅谷 直亨 (</a:t>
            </a:r>
            <a:r>
              <a:rPr lang="ja-JP" altLang="en-US" sz="1800" b="1" dirty="0">
                <a:solidFill>
                  <a:schemeClr val="bg1"/>
                </a:solidFill>
              </a:rPr>
              <a:t>うめたに なおゆき</a:t>
            </a:r>
            <a:r>
              <a:rPr lang="en-US" altLang="ja-JP" sz="1800" b="1" dirty="0">
                <a:solidFill>
                  <a:schemeClr val="bg1"/>
                </a:solidFill>
              </a:rPr>
              <a:t>; Naoyuki </a:t>
            </a:r>
            <a:r>
              <a:rPr lang="en-US" altLang="ja-JP" sz="1800" b="1" dirty="0" err="1">
                <a:solidFill>
                  <a:schemeClr val="bg1"/>
                </a:solidFill>
              </a:rPr>
              <a:t>Umetani</a:t>
            </a:r>
            <a:r>
              <a:rPr lang="en-US" altLang="ja-JP" sz="1800" b="1" dirty="0">
                <a:solidFill>
                  <a:schemeClr val="bg1"/>
                </a:solidFill>
              </a:rPr>
              <a:t> MD, PhD</a:t>
            </a:r>
            <a:r>
              <a:rPr lang="ja-JP" sz="1800" b="1" dirty="0">
                <a:solidFill>
                  <a:schemeClr val="bg1"/>
                </a:solidFill>
              </a:rPr>
              <a:t>)</a:t>
            </a:r>
            <a:endParaRPr lang="ja-JP" sz="1800" dirty="0"/>
          </a:p>
          <a:p>
            <a:pPr marL="0" indent="0">
              <a:spcAft>
                <a:spcPts val="600"/>
              </a:spcAft>
              <a:buNone/>
            </a:pPr>
            <a:r>
              <a:rPr lang="ja-JP" sz="1500" dirty="0">
                <a:solidFill>
                  <a:schemeClr val="bg2"/>
                </a:solidFill>
              </a:rPr>
              <a:t>2026 年 10 月 ・ データ版 0.8.0</a:t>
            </a:r>
            <a:endParaRPr lang="ja-JP" sz="1800" dirty="0"/>
          </a:p>
          <a:p>
            <a:pPr marL="0" indent="0">
              <a:buNone/>
            </a:pPr>
            <a:r>
              <a:rPr lang="ja-JP" sz="1500" dirty="0">
                <a:solidFill>
                  <a:schemeClr val="bg2"/>
                </a:solidFill>
              </a:rPr>
              <a:t>https://numero-uno-jpn.github.io/kyuyaku-data/</a:t>
            </a:r>
            <a:endParaRPr lang="ja-JP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sz="3000" b="1" dirty="0">
                <a:solidFill>
                  <a:schemeClr val="tx2"/>
                </a:solidFill>
              </a:rPr>
              <a:t>背景: 休薬の確認は、現場の努力だけでは漏れる</a:t>
            </a:r>
            <a:endParaRPr lang="ja-JP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53917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rgbClr val="6E85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badge"/>
          <p:cNvSpPr/>
          <p:nvPr/>
        </p:nvSpPr>
        <p:spPr>
          <a:xfrm>
            <a:off x="822960" y="16459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badge-label"/>
          <p:cNvSpPr txBox="1"/>
          <p:nvPr/>
        </p:nvSpPr>
        <p:spPr>
          <a:xfrm>
            <a:off x="822960" y="1645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sz="2000" b="1" dirty="0">
                <a:solidFill>
                  <a:schemeClr val="bg1"/>
                </a:solidFill>
              </a:rPr>
              <a:t>1</a:t>
            </a:r>
            <a:endParaRPr lang="ja-JP" sz="2000" dirty="0"/>
          </a:p>
        </p:txBody>
      </p:sp>
      <p:sp>
        <p:nvSpPr>
          <p:cNvPr id="6" name="text"/>
          <p:cNvSpPr txBox="1"/>
          <p:nvPr/>
        </p:nvSpPr>
        <p:spPr>
          <a:xfrm>
            <a:off x="1600200" y="1664208"/>
            <a:ext cx="4065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ja-JP" sz="1800" b="1" dirty="0">
                <a:solidFill>
                  <a:schemeClr val="tx2"/>
                </a:solidFill>
              </a:rPr>
              <a:t>薬の名前が多すぎる</a:t>
            </a:r>
            <a:endParaRPr lang="ja-JP" sz="1800" dirty="0"/>
          </a:p>
          <a:p>
            <a:pPr marL="0" indent="0">
              <a:spcAft>
                <a:spcPts val="400"/>
              </a:spcAft>
              <a:buNone/>
            </a:pPr>
            <a:r>
              <a:rPr lang="ja-JP" sz="1400" dirty="0">
                <a:solidFill>
                  <a:schemeClr val="tx1"/>
                </a:solidFill>
              </a:rPr>
              <a:t>1 つの一般名に、先発品・後発品・配合剤の商品名が何十も並ぶ。「タケルダ」にアスピリンが含まれていると即座に分かる人は多くない</a:t>
            </a:r>
            <a:endParaRPr lang="ja-JP" sz="1800" dirty="0"/>
          </a:p>
        </p:txBody>
      </p:sp>
      <p:sp>
        <p:nvSpPr>
          <p:cNvPr id="7" name="card"/>
          <p:cNvSpPr/>
          <p:nvPr/>
        </p:nvSpPr>
        <p:spPr>
          <a:xfrm>
            <a:off x="6251296" y="1371600"/>
            <a:ext cx="53917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rgbClr val="6E85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badge"/>
          <p:cNvSpPr/>
          <p:nvPr/>
        </p:nvSpPr>
        <p:spPr>
          <a:xfrm>
            <a:off x="6525616" y="16459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badge-label"/>
          <p:cNvSpPr txBox="1"/>
          <p:nvPr/>
        </p:nvSpPr>
        <p:spPr>
          <a:xfrm>
            <a:off x="6525616" y="1645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sz="2000" b="1" dirty="0">
                <a:solidFill>
                  <a:schemeClr val="bg1"/>
                </a:solidFill>
              </a:rPr>
              <a:t>2</a:t>
            </a:r>
            <a:endParaRPr lang="ja-JP" sz="2000" dirty="0"/>
          </a:p>
        </p:txBody>
      </p:sp>
      <p:sp>
        <p:nvSpPr>
          <p:cNvPr id="10" name="text"/>
          <p:cNvSpPr txBox="1"/>
          <p:nvPr/>
        </p:nvSpPr>
        <p:spPr>
          <a:xfrm>
            <a:off x="7302856" y="1664208"/>
            <a:ext cx="4065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ja-JP" sz="1800" b="1" dirty="0">
                <a:solidFill>
                  <a:schemeClr val="tx2"/>
                </a:solidFill>
              </a:rPr>
              <a:t>知見が絶えず更新される</a:t>
            </a:r>
            <a:endParaRPr lang="ja-JP" sz="1800" dirty="0"/>
          </a:p>
          <a:p>
            <a:pPr marL="0" indent="0">
              <a:spcAft>
                <a:spcPts val="400"/>
              </a:spcAft>
              <a:buNone/>
            </a:pPr>
            <a:r>
              <a:rPr lang="ja-JP" sz="1400" dirty="0">
                <a:solidFill>
                  <a:schemeClr val="tx1"/>
                </a:solidFill>
              </a:rPr>
              <a:t>SGLT2 阻害薬 (正常血糖ケトアシドーシス)、GLP-1 受容体作動薬 (麻酔導入時の誤嚥) など推奨が次々に加わる。DOAC は薬ごと・腎機能ごとに休薬期間が違い、ガイドラインも学会ごと・版ごとに値が異なる</a:t>
            </a:r>
            <a:endParaRPr lang="ja-JP" sz="1800" dirty="0"/>
          </a:p>
        </p:txBody>
      </p:sp>
      <p:sp>
        <p:nvSpPr>
          <p:cNvPr id="11" name="card"/>
          <p:cNvSpPr/>
          <p:nvPr/>
        </p:nvSpPr>
        <p:spPr>
          <a:xfrm>
            <a:off x="548640" y="3749040"/>
            <a:ext cx="53917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rgbClr val="6E85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badge"/>
          <p:cNvSpPr/>
          <p:nvPr/>
        </p:nvSpPr>
        <p:spPr>
          <a:xfrm>
            <a:off x="822960" y="402336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badge-label"/>
          <p:cNvSpPr txBox="1"/>
          <p:nvPr/>
        </p:nvSpPr>
        <p:spPr>
          <a:xfrm>
            <a:off x="822960" y="4023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sz="2000" b="1" dirty="0">
                <a:solidFill>
                  <a:schemeClr val="bg1"/>
                </a:solidFill>
              </a:rPr>
              <a:t>3</a:t>
            </a:r>
            <a:endParaRPr lang="ja-JP" sz="2000" dirty="0"/>
          </a:p>
        </p:txBody>
      </p:sp>
      <p:sp>
        <p:nvSpPr>
          <p:cNvPr id="14" name="text"/>
          <p:cNvSpPr txBox="1"/>
          <p:nvPr/>
        </p:nvSpPr>
        <p:spPr>
          <a:xfrm>
            <a:off x="1600200" y="4041648"/>
            <a:ext cx="4065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ja-JP" sz="1800" b="1" dirty="0">
                <a:solidFill>
                  <a:schemeClr val="tx2"/>
                </a:solidFill>
              </a:rPr>
              <a:t>チェックリストには限界がある</a:t>
            </a:r>
            <a:endParaRPr lang="ja-JP" sz="1800" dirty="0"/>
          </a:p>
          <a:p>
            <a:pPr marL="0" indent="0">
              <a:spcAft>
                <a:spcPts val="400"/>
              </a:spcAft>
              <a:buNone/>
            </a:pPr>
            <a:r>
              <a:rPr lang="ja-JP" sz="1400" dirty="0">
                <a:solidFill>
                  <a:schemeClr val="tx1"/>
                </a:solidFill>
              </a:rPr>
              <a:t>網羅的なリストは外来の数十秒では引けず、一枚の簡潔版は網羅性と最新性を犠牲にする。作られたきりの古いリストが現役で使われている現場もある</a:t>
            </a:r>
            <a:endParaRPr lang="ja-JP" sz="1800" dirty="0"/>
          </a:p>
        </p:txBody>
      </p:sp>
      <p:sp>
        <p:nvSpPr>
          <p:cNvPr id="15" name="card"/>
          <p:cNvSpPr/>
          <p:nvPr/>
        </p:nvSpPr>
        <p:spPr>
          <a:xfrm>
            <a:off x="6251296" y="3749040"/>
            <a:ext cx="53917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rgbClr val="6E85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badge"/>
          <p:cNvSpPr/>
          <p:nvPr/>
        </p:nvSpPr>
        <p:spPr>
          <a:xfrm>
            <a:off x="6525616" y="402336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badge-label"/>
          <p:cNvSpPr txBox="1"/>
          <p:nvPr/>
        </p:nvSpPr>
        <p:spPr>
          <a:xfrm>
            <a:off x="6525616" y="4023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sz="2000" b="1" dirty="0">
                <a:solidFill>
                  <a:schemeClr val="bg1"/>
                </a:solidFill>
              </a:rPr>
              <a:t>4</a:t>
            </a:r>
            <a:endParaRPr lang="ja-JP" sz="2000" dirty="0"/>
          </a:p>
        </p:txBody>
      </p:sp>
      <p:sp>
        <p:nvSpPr>
          <p:cNvPr id="18" name="text"/>
          <p:cNvSpPr txBox="1"/>
          <p:nvPr/>
        </p:nvSpPr>
        <p:spPr>
          <a:xfrm>
            <a:off x="7302856" y="4041648"/>
            <a:ext cx="4065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ja-JP" sz="1800" b="1" dirty="0">
                <a:solidFill>
                  <a:schemeClr val="tx2"/>
                </a:solidFill>
              </a:rPr>
              <a:t>個人の注意に頼っている</a:t>
            </a:r>
            <a:endParaRPr lang="ja-JP" sz="1800" dirty="0"/>
          </a:p>
          <a:p>
            <a:pPr marL="0" indent="0">
              <a:spcAft>
                <a:spcPts val="400"/>
              </a:spcAft>
              <a:buNone/>
            </a:pPr>
            <a:r>
              <a:rPr lang="ja-JP" sz="1400" dirty="0">
                <a:solidFill>
                  <a:schemeClr val="tx1"/>
                </a:solidFill>
              </a:rPr>
              <a:t>何重に確認しても「誰かが見ているはず」という隙間から漏れる。漏れの教訓は個人のメモに書き溜められ、共有されないまま消えていく</a:t>
            </a:r>
            <a:endParaRPr lang="ja-JP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sz="3000" b="1" dirty="0">
                <a:solidFill>
                  <a:schemeClr val="tx2"/>
                </a:solidFill>
              </a:rPr>
              <a:t>作者の経験: 忙しい外来での見落とし</a:t>
            </a:r>
            <a:endParaRPr lang="ja-JP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463040"/>
            <a:ext cx="5120640" cy="1188720"/>
          </a:xfrm>
          <a:prstGeom prst="roundRect">
            <a:avLst>
              <a:gd name="adj" fmla="val 9231"/>
            </a:avLst>
          </a:prstGeom>
          <a:solidFill>
            <a:srgbClr val="FBEDEB"/>
          </a:solidFill>
          <a:ln w="12700">
            <a:solidFill>
              <a:srgbClr val="C2564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badge"/>
          <p:cNvSpPr/>
          <p:nvPr/>
        </p:nvSpPr>
        <p:spPr>
          <a:xfrm>
            <a:off x="822960" y="1773936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badge-label"/>
          <p:cNvSpPr txBox="1"/>
          <p:nvPr/>
        </p:nvSpPr>
        <p:spPr>
          <a:xfrm>
            <a:off x="822960" y="17739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sz="2000" b="1" dirty="0">
                <a:solidFill>
                  <a:schemeClr val="bg1"/>
                </a:solidFill>
              </a:rPr>
              <a:t>!</a:t>
            </a:r>
            <a:endParaRPr lang="ja-JP" sz="2000" dirty="0"/>
          </a:p>
        </p:txBody>
      </p:sp>
      <p:sp>
        <p:nvSpPr>
          <p:cNvPr id="6" name="text"/>
          <p:cNvSpPr txBox="1"/>
          <p:nvPr/>
        </p:nvSpPr>
        <p:spPr>
          <a:xfrm>
            <a:off x="1600200" y="16459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sz="1700" b="1" dirty="0">
                <a:solidFill>
                  <a:schemeClr val="tx1"/>
                </a:solidFill>
              </a:rPr>
              <a:t>合剤 (配合錠) に含まれていた抗血小板薬に、気づかなかった</a:t>
            </a:r>
            <a:endParaRPr lang="ja-JP" sz="1700" dirty="0"/>
          </a:p>
        </p:txBody>
      </p:sp>
      <p:sp>
        <p:nvSpPr>
          <p:cNvPr id="7" name="card"/>
          <p:cNvSpPr/>
          <p:nvPr/>
        </p:nvSpPr>
        <p:spPr>
          <a:xfrm>
            <a:off x="548640" y="2880360"/>
            <a:ext cx="5120640" cy="1188720"/>
          </a:xfrm>
          <a:prstGeom prst="roundRect">
            <a:avLst>
              <a:gd name="adj" fmla="val 9231"/>
            </a:avLst>
          </a:prstGeom>
          <a:solidFill>
            <a:srgbClr val="FBEDEB"/>
          </a:solidFill>
          <a:ln w="12700">
            <a:solidFill>
              <a:srgbClr val="C2564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badge"/>
          <p:cNvSpPr/>
          <p:nvPr/>
        </p:nvSpPr>
        <p:spPr>
          <a:xfrm>
            <a:off x="822960" y="3191256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badge-label"/>
          <p:cNvSpPr txBox="1"/>
          <p:nvPr/>
        </p:nvSpPr>
        <p:spPr>
          <a:xfrm>
            <a:off x="822960" y="31912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sz="2000" b="1" dirty="0">
                <a:solidFill>
                  <a:schemeClr val="bg1"/>
                </a:solidFill>
              </a:rPr>
              <a:t>!</a:t>
            </a:r>
            <a:endParaRPr lang="ja-JP" sz="2000" dirty="0"/>
          </a:p>
        </p:txBody>
      </p:sp>
      <p:sp>
        <p:nvSpPr>
          <p:cNvPr id="10" name="text"/>
          <p:cNvSpPr txBox="1"/>
          <p:nvPr/>
        </p:nvSpPr>
        <p:spPr>
          <a:xfrm>
            <a:off x="1600200" y="30632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sz="1700" b="1" dirty="0">
                <a:solidFill>
                  <a:schemeClr val="tx1"/>
                </a:solidFill>
              </a:rPr>
              <a:t>見慣れないホルモン薬を、見落とした</a:t>
            </a:r>
            <a:endParaRPr lang="ja-JP" sz="1700" dirty="0"/>
          </a:p>
        </p:txBody>
      </p:sp>
      <p:sp>
        <p:nvSpPr>
          <p:cNvPr id="11" name="text"/>
          <p:cNvSpPr txBox="1"/>
          <p:nvPr/>
        </p:nvSpPr>
        <p:spPr>
          <a:xfrm>
            <a:off x="548640" y="443484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sz="1500" dirty="0">
                <a:solidFill>
                  <a:schemeClr val="tx1"/>
                </a:solidFill>
              </a:rPr>
              <a:t>こうした見落としの経験から、人の注意力だけに頼らず、確認を支える道具が必要だと感じた。それが、このデータを作り始めた原点。</a:t>
            </a:r>
            <a:endParaRPr lang="ja-JP" sz="1500" dirty="0"/>
          </a:p>
        </p:txBody>
      </p:sp>
      <p:sp>
        <p:nvSpPr>
          <p:cNvPr id="12" name="card"/>
          <p:cNvSpPr/>
          <p:nvPr/>
        </p:nvSpPr>
        <p:spPr>
          <a:xfrm>
            <a:off x="6172200" y="1463040"/>
            <a:ext cx="5470855" cy="4251960"/>
          </a:xfrm>
          <a:prstGeom prst="roundRect">
            <a:avLst>
              <a:gd name="adj" fmla="val 2581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statement"/>
          <p:cNvSpPr txBox="1"/>
          <p:nvPr/>
        </p:nvSpPr>
        <p:spPr>
          <a:xfrm>
            <a:off x="6537960" y="1783080"/>
            <a:ext cx="473933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800"/>
              </a:spcAft>
              <a:buNone/>
            </a:pPr>
            <a:r>
              <a:rPr lang="ja-JP" sz="1600" dirty="0">
                <a:solidFill>
                  <a:schemeClr val="bg2"/>
                </a:solidFill>
              </a:rPr>
              <a:t>一剤ごとに最新の添付文書と複数のガイドラインを突き合わせ、どの資料のどこに書いてあるかを確かめる作業を、医療者一人ひとりが毎回繰り返すのは無駄で、危険でもある。</a:t>
            </a:r>
            <a:endParaRPr lang="ja-JP" sz="1600" dirty="0"/>
          </a:p>
          <a:p>
            <a:pPr marL="0" indent="0">
              <a:buNone/>
            </a:pPr>
            <a:r>
              <a:rPr lang="ja-JP" sz="2000" b="1" dirty="0">
                <a:solidFill>
                  <a:schemeClr val="bg1"/>
                </a:solidFill>
              </a:rPr>
              <a:t>根拠をたどれる形で整理した休薬データを一度作り、正しく更新し続け、誰でも使えるように公開する。</a:t>
            </a:r>
            <a:endParaRPr lang="ja-JP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sz="3000" b="1" dirty="0">
                <a:solidFill>
                  <a:schemeClr val="tx2"/>
                </a:solidFill>
              </a:rPr>
              <a:t>目的: 比べられる・たどれる・区別できる</a:t>
            </a:r>
            <a:endParaRPr lang="ja-JP" sz="3000" dirty="0"/>
          </a:p>
        </p:txBody>
      </p:sp>
      <p:sp>
        <p:nvSpPr>
          <p:cNvPr id="3" name="badge"/>
          <p:cNvSpPr/>
          <p:nvPr/>
        </p:nvSpPr>
        <p:spPr>
          <a:xfrm>
            <a:off x="548640" y="1463040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badge-label"/>
          <p:cNvSpPr txBox="1"/>
          <p:nvPr/>
        </p:nvSpPr>
        <p:spPr>
          <a:xfrm>
            <a:off x="548640" y="14630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sz="2000" b="1" dirty="0">
                <a:solidFill>
                  <a:schemeClr val="bg1"/>
                </a:solidFill>
              </a:rPr>
              <a:t>1</a:t>
            </a:r>
            <a:endParaRPr lang="ja-JP" sz="2000" dirty="0"/>
          </a:p>
        </p:txBody>
      </p:sp>
      <p:sp>
        <p:nvSpPr>
          <p:cNvPr id="5" name="text"/>
          <p:cNvSpPr txBox="1"/>
          <p:nvPr/>
        </p:nvSpPr>
        <p:spPr>
          <a:xfrm>
            <a:off x="1508760" y="1417320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ja-JP" sz="1900" b="1" dirty="0">
                <a:solidFill>
                  <a:schemeClr val="tx2"/>
                </a:solidFill>
              </a:rPr>
              <a:t>ガイドライン別の値を並べて比べられる</a:t>
            </a:r>
            <a:endParaRPr lang="ja-JP" sz="1900" dirty="0"/>
          </a:p>
          <a:p>
            <a:pPr marL="0" indent="0">
              <a:spcAft>
                <a:spcPts val="400"/>
              </a:spcAft>
              <a:buNone/>
            </a:pPr>
            <a:r>
              <a:rPr lang="ja-JP" sz="1500" dirty="0">
                <a:solidFill>
                  <a:schemeClr val="tx1"/>
                </a:solidFill>
              </a:rPr>
              <a:t>同じ薬でも学会ごと・版ごとに出血リスクの分類や日数が異なる。薬ごとに全ガイドラインの値を一覧にする</a:t>
            </a:r>
            <a:endParaRPr lang="ja-JP" sz="1900" dirty="0"/>
          </a:p>
        </p:txBody>
      </p:sp>
      <p:sp>
        <p:nvSpPr>
          <p:cNvPr id="6" name="badge"/>
          <p:cNvSpPr/>
          <p:nvPr/>
        </p:nvSpPr>
        <p:spPr>
          <a:xfrm>
            <a:off x="548640" y="2834640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badge-label"/>
          <p:cNvSpPr txBox="1"/>
          <p:nvPr/>
        </p:nvSpPr>
        <p:spPr>
          <a:xfrm>
            <a:off x="548640" y="28346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sz="2000" b="1" dirty="0">
                <a:solidFill>
                  <a:schemeClr val="bg1"/>
                </a:solidFill>
              </a:rPr>
              <a:t>2</a:t>
            </a:r>
            <a:endParaRPr lang="ja-JP" sz="2000" dirty="0"/>
          </a:p>
        </p:txBody>
      </p:sp>
      <p:sp>
        <p:nvSpPr>
          <p:cNvPr id="8" name="text"/>
          <p:cNvSpPr txBox="1"/>
          <p:nvPr/>
        </p:nvSpPr>
        <p:spPr>
          <a:xfrm>
            <a:off x="1508760" y="2788920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ja-JP" sz="1900" b="1" dirty="0">
                <a:solidFill>
                  <a:schemeClr val="tx2"/>
                </a:solidFill>
              </a:rPr>
              <a:t>どの値も、一次資料のどこに書いてあるかをたどれる</a:t>
            </a:r>
            <a:endParaRPr lang="ja-JP" sz="1900" dirty="0"/>
          </a:p>
          <a:p>
            <a:pPr marL="0" indent="0">
              <a:spcAft>
                <a:spcPts val="400"/>
              </a:spcAft>
              <a:buNone/>
            </a:pPr>
            <a:r>
              <a:rPr lang="ja-JP" sz="1500" dirty="0">
                <a:solidFill>
                  <a:schemeClr val="tx1"/>
                </a:solidFill>
              </a:rPr>
              <a:t>資料名・頁・表番号と、PDF の該当頁へのリンク、引用または抜粋を記録する</a:t>
            </a:r>
            <a:endParaRPr lang="ja-JP" sz="1900" dirty="0"/>
          </a:p>
        </p:txBody>
      </p:sp>
      <p:sp>
        <p:nvSpPr>
          <p:cNvPr id="9" name="badge"/>
          <p:cNvSpPr/>
          <p:nvPr/>
        </p:nvSpPr>
        <p:spPr>
          <a:xfrm>
            <a:off x="548640" y="4206240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badge-label"/>
          <p:cNvSpPr txBox="1"/>
          <p:nvPr/>
        </p:nvSpPr>
        <p:spPr>
          <a:xfrm>
            <a:off x="548640" y="42062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sz="2000" b="1" dirty="0">
                <a:solidFill>
                  <a:schemeClr val="bg1"/>
                </a:solidFill>
              </a:rPr>
              <a:t>3</a:t>
            </a:r>
            <a:endParaRPr lang="ja-JP" sz="2000" dirty="0"/>
          </a:p>
        </p:txBody>
      </p:sp>
      <p:sp>
        <p:nvSpPr>
          <p:cNvPr id="11" name="text"/>
          <p:cNvSpPr txBox="1"/>
          <p:nvPr/>
        </p:nvSpPr>
        <p:spPr>
          <a:xfrm>
            <a:off x="1508760" y="4160520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ja-JP" sz="1900" b="1" dirty="0">
                <a:solidFill>
                  <a:schemeClr val="tx2"/>
                </a:solidFill>
              </a:rPr>
              <a:t>値の出どころが分かる</a:t>
            </a:r>
            <a:endParaRPr lang="ja-JP" sz="1900" dirty="0"/>
          </a:p>
          <a:p>
            <a:pPr marL="0" indent="0">
              <a:spcAft>
                <a:spcPts val="400"/>
              </a:spcAft>
              <a:buNone/>
            </a:pPr>
            <a:r>
              <a:rPr lang="ja-JP" sz="1500" dirty="0">
                <a:solidFill>
                  <a:schemeClr val="tx1"/>
                </a:solidFill>
              </a:rPr>
              <a:t>ガイドラインに直接書かれた値か、薬効クラスの推奨の当てはめか、半減期などからの計算値かを区別する</a:t>
            </a:r>
            <a:endParaRPr lang="ja-JP" sz="1900" dirty="0"/>
          </a:p>
        </p:txBody>
      </p:sp>
      <p:sp>
        <p:nvSpPr>
          <p:cNvPr id="12" name="card"/>
          <p:cNvSpPr/>
          <p:nvPr/>
        </p:nvSpPr>
        <p:spPr>
          <a:xfrm>
            <a:off x="8549640" y="1417320"/>
            <a:ext cx="3093415" cy="3931920"/>
          </a:xfrm>
          <a:prstGeom prst="roundRect">
            <a:avLst>
              <a:gd name="adj" fmla="val 3547"/>
            </a:avLst>
          </a:prstGeom>
          <a:solidFill>
            <a:schemeClr val="accent4"/>
          </a:solidFill>
          <a:ln w="12700">
            <a:solidFill>
              <a:srgbClr val="6E85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open"/>
          <p:cNvSpPr txBox="1"/>
          <p:nvPr/>
        </p:nvSpPr>
        <p:spPr>
          <a:xfrm>
            <a:off x="8823960" y="1691640"/>
            <a:ext cx="2544775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ja-JP" sz="1500" dirty="0">
                <a:solidFill>
                  <a:schemeClr val="tx2"/>
                </a:solidFill>
              </a:rPr>
              <a:t>医療安全に役立つよう</a:t>
            </a:r>
            <a:endParaRPr lang="ja-JP" sz="1500" dirty="0"/>
          </a:p>
          <a:p>
            <a:pPr marL="0" indent="0">
              <a:spcAft>
                <a:spcPts val="1400"/>
              </a:spcAft>
              <a:buNone/>
            </a:pPr>
            <a:r>
              <a:rPr lang="ja-JP" sz="2100" b="1" dirty="0">
                <a:solidFill>
                  <a:schemeClr val="tx2"/>
                </a:solidFill>
              </a:rPr>
              <a:t>誰でも自由に使える形で公開</a:t>
            </a:r>
            <a:endParaRPr lang="ja-JP" sz="1500" dirty="0"/>
          </a:p>
          <a:p>
            <a:pPr marL="0" indent="0">
              <a:buNone/>
            </a:pPr>
            <a:r>
              <a:rPr lang="ja-JP" sz="1500" b="1" dirty="0">
                <a:solidFill>
                  <a:schemeClr val="tx1"/>
                </a:solidFill>
              </a:rPr>
              <a:t>CC BY 4.0</a:t>
            </a:r>
            <a:endParaRPr lang="ja-JP" sz="1500" dirty="0"/>
          </a:p>
          <a:p>
            <a:pPr marL="0" indent="0">
              <a:buNone/>
            </a:pPr>
            <a:r>
              <a:rPr lang="ja-JP" sz="1500" dirty="0">
                <a:solidFill>
                  <a:schemeClr val="tx1"/>
                </a:solidFill>
              </a:rPr>
              <a:t>無料・登録不要</a:t>
            </a:r>
            <a:endParaRPr lang="ja-JP" sz="1500" dirty="0"/>
          </a:p>
          <a:p>
            <a:pPr marL="0" indent="0">
              <a:buNone/>
            </a:pPr>
            <a:r>
              <a:rPr lang="ja-JP" sz="1500" dirty="0">
                <a:solidFill>
                  <a:schemeClr val="tx1"/>
                </a:solidFill>
              </a:rPr>
              <a:t>商用利用も可</a:t>
            </a:r>
            <a:endParaRPr lang="ja-JP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sz="3000" b="1" dirty="0">
                <a:solidFill>
                  <a:schemeClr val="tx2"/>
                </a:solidFill>
              </a:rPr>
              <a:t>収録範囲: 周術期と造影 CT 検査前の休薬に関わる薬</a:t>
            </a:r>
            <a:endParaRPr lang="ja-JP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2567864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rgbClr val="6E85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"/>
          <p:cNvSpPr txBox="1"/>
          <p:nvPr/>
        </p:nvSpPr>
        <p:spPr>
          <a:xfrm>
            <a:off x="548640" y="1481328"/>
            <a:ext cx="2567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sz="4800" b="1" dirty="0">
                <a:solidFill>
                  <a:schemeClr val="tx2"/>
                </a:solidFill>
              </a:rPr>
              <a:t>152</a:t>
            </a:r>
            <a:endParaRPr lang="ja-JP" sz="4800" dirty="0"/>
          </a:p>
        </p:txBody>
      </p:sp>
      <p:sp>
        <p:nvSpPr>
          <p:cNvPr id="5" name="text"/>
          <p:cNvSpPr txBox="1"/>
          <p:nvPr/>
        </p:nvSpPr>
        <p:spPr>
          <a:xfrm>
            <a:off x="685800" y="2423160"/>
            <a:ext cx="2293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ja-JP" sz="1400" dirty="0">
                <a:solidFill>
                  <a:schemeClr val="accent5"/>
                </a:solidFill>
              </a:rPr>
              <a:t>収載薬剤 (一般名)</a:t>
            </a:r>
            <a:endParaRPr lang="ja-JP" sz="1400" dirty="0"/>
          </a:p>
        </p:txBody>
      </p:sp>
      <p:sp>
        <p:nvSpPr>
          <p:cNvPr id="6" name="card"/>
          <p:cNvSpPr/>
          <p:nvPr/>
        </p:nvSpPr>
        <p:spPr>
          <a:xfrm>
            <a:off x="3390824" y="1371600"/>
            <a:ext cx="2567864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rgbClr val="6E85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"/>
          <p:cNvSpPr txBox="1"/>
          <p:nvPr/>
        </p:nvSpPr>
        <p:spPr>
          <a:xfrm>
            <a:off x="3390824" y="1481328"/>
            <a:ext cx="2567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sz="4800" b="1" dirty="0">
                <a:solidFill>
                  <a:schemeClr val="tx2"/>
                </a:solidFill>
              </a:rPr>
              <a:t>81</a:t>
            </a:r>
            <a:endParaRPr lang="ja-JP" sz="4800" dirty="0"/>
          </a:p>
        </p:txBody>
      </p:sp>
      <p:sp>
        <p:nvSpPr>
          <p:cNvPr id="8" name="text"/>
          <p:cNvSpPr txBox="1"/>
          <p:nvPr/>
        </p:nvSpPr>
        <p:spPr>
          <a:xfrm>
            <a:off x="3527984" y="2423160"/>
            <a:ext cx="2293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ja-JP" sz="1400" dirty="0">
                <a:solidFill>
                  <a:schemeClr val="accent5"/>
                </a:solidFill>
              </a:rPr>
              <a:t>薬効分類</a:t>
            </a:r>
            <a:endParaRPr lang="ja-JP" sz="1400" dirty="0"/>
          </a:p>
        </p:txBody>
      </p:sp>
      <p:sp>
        <p:nvSpPr>
          <p:cNvPr id="9" name="card"/>
          <p:cNvSpPr/>
          <p:nvPr/>
        </p:nvSpPr>
        <p:spPr>
          <a:xfrm>
            <a:off x="6233008" y="1371600"/>
            <a:ext cx="2567864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rgbClr val="6E85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"/>
          <p:cNvSpPr txBox="1"/>
          <p:nvPr/>
        </p:nvSpPr>
        <p:spPr>
          <a:xfrm>
            <a:off x="6233008" y="1481328"/>
            <a:ext cx="2567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sz="4800" b="1" dirty="0">
                <a:solidFill>
                  <a:schemeClr val="tx2"/>
                </a:solidFill>
              </a:rPr>
              <a:t>1,111</a:t>
            </a:r>
            <a:endParaRPr lang="ja-JP" sz="4800" dirty="0"/>
          </a:p>
        </p:txBody>
      </p:sp>
      <p:sp>
        <p:nvSpPr>
          <p:cNvPr id="11" name="text"/>
          <p:cNvSpPr txBox="1"/>
          <p:nvPr/>
        </p:nvSpPr>
        <p:spPr>
          <a:xfrm>
            <a:off x="6370168" y="2423160"/>
            <a:ext cx="2293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ja-JP" sz="1400" dirty="0">
                <a:solidFill>
                  <a:schemeClr val="accent5"/>
                </a:solidFill>
              </a:rPr>
              <a:t>検索できる名称</a:t>
            </a:r>
            <a:endParaRPr lang="ja-JP" sz="1400" dirty="0"/>
          </a:p>
          <a:p>
            <a:pPr marL="0" indent="0" algn="ctr">
              <a:buNone/>
            </a:pPr>
            <a:r>
              <a:rPr lang="ja-JP" sz="1400" dirty="0">
                <a:solidFill>
                  <a:schemeClr val="accent5"/>
                </a:solidFill>
              </a:rPr>
              <a:t>(別名・商品名・後発品名)</a:t>
            </a:r>
            <a:endParaRPr lang="ja-JP" sz="1400" dirty="0"/>
          </a:p>
        </p:txBody>
      </p:sp>
      <p:sp>
        <p:nvSpPr>
          <p:cNvPr id="12" name="card"/>
          <p:cNvSpPr/>
          <p:nvPr/>
        </p:nvSpPr>
        <p:spPr>
          <a:xfrm>
            <a:off x="9075191" y="1371600"/>
            <a:ext cx="2567864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rgbClr val="6E85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"/>
          <p:cNvSpPr txBox="1"/>
          <p:nvPr/>
        </p:nvSpPr>
        <p:spPr>
          <a:xfrm>
            <a:off x="9075191" y="1481328"/>
            <a:ext cx="2567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sz="4800" b="1" dirty="0">
                <a:solidFill>
                  <a:schemeClr val="tx2"/>
                </a:solidFill>
              </a:rPr>
              <a:t>394</a:t>
            </a:r>
            <a:endParaRPr lang="ja-JP" sz="4800" dirty="0"/>
          </a:p>
        </p:txBody>
      </p:sp>
      <p:sp>
        <p:nvSpPr>
          <p:cNvPr id="14" name="text"/>
          <p:cNvSpPr txBox="1"/>
          <p:nvPr/>
        </p:nvSpPr>
        <p:spPr>
          <a:xfrm>
            <a:off x="9212351" y="2423160"/>
            <a:ext cx="2293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ja-JP" sz="1400" dirty="0">
                <a:solidFill>
                  <a:schemeClr val="accent5"/>
                </a:solidFill>
              </a:rPr>
              <a:t>ガイドライン別の値</a:t>
            </a:r>
            <a:endParaRPr lang="ja-JP" sz="1400" dirty="0"/>
          </a:p>
        </p:txBody>
      </p:sp>
      <p:sp>
        <p:nvSpPr>
          <p:cNvPr id="15" name="text"/>
          <p:cNvSpPr txBox="1"/>
          <p:nvPr/>
        </p:nvSpPr>
        <p:spPr>
          <a:xfrm>
            <a:off x="548640" y="3657600"/>
            <a:ext cx="6949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ja-JP" sz="1800" b="1" dirty="0">
                <a:solidFill>
                  <a:schemeClr val="tx2"/>
                </a:solidFill>
              </a:rPr>
              <a:t>対象</a:t>
            </a:r>
            <a:endParaRPr lang="ja-JP" sz="1800" dirty="0"/>
          </a:p>
          <a:p>
            <a:pPr marL="0" indent="0">
              <a:spcAft>
                <a:spcPts val="400"/>
              </a:spcAft>
              <a:buNone/>
            </a:pPr>
            <a:r>
              <a:rPr lang="ja-JP" sz="1500" dirty="0">
                <a:solidFill>
                  <a:schemeClr val="tx1"/>
                </a:solidFill>
              </a:rPr>
              <a:t>抗血栓薬、糖尿病薬、降圧・利尿薬、抗リウマチ薬・免疫抑制薬 (生物学的製剤・JAK 阻害薬を含む)、骨粗鬆症薬、ホルモン製剤、抗がん剤の一部、精神・神経系の薬、サプリメントなど</a:t>
            </a:r>
            <a:endParaRPr lang="ja-JP" sz="1800" dirty="0"/>
          </a:p>
        </p:txBody>
      </p:sp>
      <p:sp>
        <p:nvSpPr>
          <p:cNvPr id="16" name="text"/>
          <p:cNvSpPr txBox="1"/>
          <p:nvPr/>
        </p:nvSpPr>
        <p:spPr>
          <a:xfrm>
            <a:off x="7863840" y="3657600"/>
            <a:ext cx="377921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ja-JP" sz="1800" b="1" dirty="0">
                <a:solidFill>
                  <a:schemeClr val="tx2"/>
                </a:solidFill>
              </a:rPr>
              <a:t>含まないもの</a:t>
            </a:r>
            <a:endParaRPr lang="ja-JP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ja-JP" sz="1500" dirty="0">
                <a:solidFill>
                  <a:schemeClr val="tx1"/>
                </a:solidFill>
              </a:rPr>
              <a:t>薬物相互作用</a:t>
            </a:r>
            <a:endParaRPr lang="ja-JP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ja-JP" sz="1500" dirty="0">
                <a:solidFill>
                  <a:schemeClr val="tx1"/>
                </a:solidFill>
              </a:rPr>
              <a:t>術後の再開時期の網羅的な情報</a:t>
            </a:r>
            <a:endParaRPr lang="ja-JP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ja-JP" sz="1500" dirty="0">
                <a:solidFill>
                  <a:schemeClr val="tx1"/>
                </a:solidFill>
              </a:rPr>
              <a:t>小児の用量別の扱い</a:t>
            </a:r>
            <a:endParaRPr lang="ja-JP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ja-JP" sz="1500" dirty="0">
                <a:solidFill>
                  <a:schemeClr val="tx1"/>
                </a:solidFill>
              </a:rPr>
              <a:t>一次資料の全文</a:t>
            </a:r>
            <a:endParaRPr lang="ja-JP" sz="1800" dirty="0"/>
          </a:p>
        </p:txBody>
      </p:sp>
      <p:sp>
        <p:nvSpPr>
          <p:cNvPr id="17" name="text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sz="1200" dirty="0">
                <a:solidFill>
                  <a:schemeClr val="accent5"/>
                </a:solidFill>
              </a:rPr>
              <a:t>データ版 0.8.0 (2026-10-18 更新) 時点。商品名 578 件・後発品名 317 件を含む</a:t>
            </a:r>
            <a:endParaRPr lang="ja-JP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sz="3000" b="1" dirty="0">
                <a:solidFill>
                  <a:schemeClr val="tx2"/>
                </a:solidFill>
              </a:rPr>
              <a:t>一次資料: 国内外のガイドラインと添付文書</a:t>
            </a:r>
            <a:endParaRPr lang="ja-JP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6035040" cy="4343400"/>
          </a:xfrm>
          <a:prstGeom prst="roundRect">
            <a:avLst>
              <a:gd name="adj" fmla="val 2526"/>
            </a:avLst>
          </a:prstGeom>
          <a:solidFill>
            <a:schemeClr val="bg2"/>
          </a:solidFill>
          <a:ln w="12700">
            <a:solidFill>
              <a:srgbClr val="6E85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"/>
          <p:cNvSpPr txBox="1"/>
          <p:nvPr/>
        </p:nvSpPr>
        <p:spPr>
          <a:xfrm>
            <a:off x="822960" y="1600200"/>
            <a:ext cx="54864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ja-JP" sz="1900" b="1" dirty="0">
                <a:solidFill>
                  <a:schemeClr val="tx2"/>
                </a:solidFill>
              </a:rPr>
              <a:t>国内</a:t>
            </a:r>
            <a:endParaRPr lang="ja-JP" sz="1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ja-JP" sz="1400" dirty="0">
                <a:solidFill>
                  <a:schemeClr val="tx1"/>
                </a:solidFill>
              </a:rPr>
              <a:t>日本麻酔科学会・日本区域麻酔学会・日本ペインクリニック学会「抗血栓療法中の区域麻酔・神経ブロックガイドライン」(2016 初版・2026 改訂第 2 版)</a:t>
            </a:r>
            <a:endParaRPr lang="ja-JP" sz="1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ja-JP" sz="1400" dirty="0">
                <a:solidFill>
                  <a:schemeClr val="tx1"/>
                </a:solidFill>
              </a:rPr>
              <a:t>日本循環器学会 (抗血栓療法・不整脈薬物治療・SGLT2 阻害薬)</a:t>
            </a:r>
            <a:endParaRPr lang="ja-JP" sz="1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ja-JP" sz="1400" dirty="0">
                <a:solidFill>
                  <a:schemeClr val="tx1"/>
                </a:solidFill>
              </a:rPr>
              <a:t>日本消化器内視鏡学会</a:t>
            </a:r>
            <a:endParaRPr lang="ja-JP" sz="1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ja-JP" sz="1400" dirty="0">
                <a:solidFill>
                  <a:schemeClr val="tx1"/>
                </a:solidFill>
              </a:rPr>
              <a:t>日本糖尿病学会 ・ 日本腎臓学会</a:t>
            </a:r>
            <a:endParaRPr lang="ja-JP" sz="1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ja-JP" sz="1400" dirty="0">
                <a:solidFill>
                  <a:schemeClr val="tx1"/>
                </a:solidFill>
              </a:rPr>
              <a:t>日本リウマチ学会 ・ 日本皮膚科学会</a:t>
            </a:r>
            <a:endParaRPr lang="ja-JP" sz="1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ja-JP" sz="1400" dirty="0">
                <a:solidFill>
                  <a:schemeClr val="tx1"/>
                </a:solidFill>
              </a:rPr>
              <a:t>顎骨壊死検討委員会 ポジションペーパー</a:t>
            </a:r>
            <a:endParaRPr lang="ja-JP" sz="1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ja-JP" sz="1400" dirty="0">
                <a:solidFill>
                  <a:schemeClr val="tx1"/>
                </a:solidFill>
              </a:rPr>
              <a:t>日本医学放射線学会 (造影剤)</a:t>
            </a:r>
            <a:endParaRPr lang="ja-JP" sz="1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ja-JP" sz="1400" dirty="0">
                <a:solidFill>
                  <a:schemeClr val="tx1"/>
                </a:solidFill>
              </a:rPr>
              <a:t>PMDA 添付文書</a:t>
            </a:r>
            <a:endParaRPr lang="ja-JP" sz="1900" dirty="0"/>
          </a:p>
        </p:txBody>
      </p:sp>
      <p:sp>
        <p:nvSpPr>
          <p:cNvPr id="5" name="card"/>
          <p:cNvSpPr/>
          <p:nvPr/>
        </p:nvSpPr>
        <p:spPr>
          <a:xfrm>
            <a:off x="6858000" y="1371600"/>
            <a:ext cx="4785055" cy="4343400"/>
          </a:xfrm>
          <a:prstGeom prst="roundRect">
            <a:avLst>
              <a:gd name="adj" fmla="val 2526"/>
            </a:avLst>
          </a:prstGeom>
          <a:solidFill>
            <a:schemeClr val="bg2"/>
          </a:solidFill>
          <a:ln w="12700">
            <a:solidFill>
              <a:srgbClr val="6E85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"/>
          <p:cNvSpPr txBox="1"/>
          <p:nvPr/>
        </p:nvSpPr>
        <p:spPr>
          <a:xfrm>
            <a:off x="7132320" y="1600200"/>
            <a:ext cx="423641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ja-JP" sz="1900" b="1" dirty="0">
                <a:solidFill>
                  <a:schemeClr val="tx2"/>
                </a:solidFill>
              </a:rPr>
              <a:t>海外</a:t>
            </a:r>
            <a:endParaRPr lang="ja-JP" sz="1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ja-JP" sz="1400" dirty="0">
                <a:solidFill>
                  <a:schemeClr val="tx1"/>
                </a:solidFill>
              </a:rPr>
              <a:t>ACC/AHA 2024 (非心臓手術の周術期管理)</a:t>
            </a:r>
            <a:endParaRPr lang="ja-JP" sz="1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ja-JP" sz="1400" dirty="0">
                <a:solidFill>
                  <a:schemeClr val="tx1"/>
                </a:solidFill>
              </a:rPr>
              <a:t>ESC 2022 (非心臓手術)</a:t>
            </a:r>
            <a:endParaRPr lang="ja-JP" sz="1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ja-JP" sz="1400" dirty="0">
                <a:solidFill>
                  <a:schemeClr val="tx1"/>
                </a:solidFill>
              </a:rPr>
              <a:t>ASRA 2018 (区域麻酔)</a:t>
            </a:r>
            <a:endParaRPr lang="ja-JP" sz="1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ja-JP" sz="1400" dirty="0">
                <a:solidFill>
                  <a:schemeClr val="tx1"/>
                </a:solidFill>
              </a:rPr>
              <a:t>ACR/AAHKS 2022 (関節置換術)</a:t>
            </a:r>
            <a:endParaRPr lang="ja-JP" sz="1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ja-JP" sz="1400" dirty="0">
                <a:solidFill>
                  <a:schemeClr val="tx1"/>
                </a:solidFill>
              </a:rPr>
              <a:t>BSR 2019</a:t>
            </a:r>
            <a:endParaRPr lang="ja-JP" sz="1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ja-JP" sz="1400" dirty="0">
                <a:solidFill>
                  <a:schemeClr val="tx1"/>
                </a:solidFill>
              </a:rPr>
              <a:t>KDIGO 2022</a:t>
            </a:r>
            <a:endParaRPr lang="ja-JP" sz="1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ja-JP" sz="1400" dirty="0">
                <a:solidFill>
                  <a:schemeClr val="tx1"/>
                </a:solidFill>
              </a:rPr>
              <a:t>ASA (GLP-1 受容体作動薬・サプリメント)</a:t>
            </a:r>
            <a:endParaRPr lang="ja-JP" sz="1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ja-JP" sz="1400" dirty="0">
                <a:solidFill>
                  <a:schemeClr val="tx1"/>
                </a:solidFill>
              </a:rPr>
              <a:t>FDA 添付文書</a:t>
            </a:r>
            <a:endParaRPr lang="ja-JP" sz="1900" dirty="0"/>
          </a:p>
        </p:txBody>
      </p:sp>
      <p:sp>
        <p:nvSpPr>
          <p:cNvPr id="7" name="text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sz="1300" dirty="0">
                <a:solidFill>
                  <a:schemeClr val="accent5"/>
                </a:solidFill>
              </a:rPr>
              <a:t>ガイドラインは版ごとに分けて記録し、旧版の値は履歴として残したうえで表示用の値の計算から外す</a:t>
            </a:r>
            <a:endParaRPr lang="ja-JP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sz="3000" b="1" dirty="0">
                <a:solidFill>
                  <a:schemeClr val="tx2"/>
                </a:solidFill>
              </a:rPr>
              <a:t>表示用の値は「安全側 (長い方)」で決める</a:t>
            </a:r>
            <a:endParaRPr lang="ja-JP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417320"/>
            <a:ext cx="3246120" cy="1600200"/>
          </a:xfrm>
          <a:prstGeom prst="roundRect">
            <a:avLst>
              <a:gd name="adj" fmla="val 6857"/>
            </a:avLst>
          </a:prstGeom>
          <a:solidFill>
            <a:schemeClr val="accent4"/>
          </a:solidFill>
          <a:ln w="12700">
            <a:solidFill>
              <a:srgbClr val="6E85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badge"/>
          <p:cNvSpPr/>
          <p:nvPr/>
        </p:nvSpPr>
        <p:spPr>
          <a:xfrm>
            <a:off x="777240" y="1645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badge-label"/>
          <p:cNvSpPr txBox="1"/>
          <p:nvPr/>
        </p:nvSpPr>
        <p:spPr>
          <a:xfrm>
            <a:off x="7772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sz="1500" b="1" dirty="0">
                <a:solidFill>
                  <a:schemeClr val="bg1"/>
                </a:solidFill>
              </a:rPr>
              <a:t>1</a:t>
            </a:r>
            <a:endParaRPr lang="ja-JP" sz="1500" dirty="0"/>
          </a:p>
        </p:txBody>
      </p:sp>
      <p:sp>
        <p:nvSpPr>
          <p:cNvPr id="6" name="text"/>
          <p:cNvSpPr txBox="1"/>
          <p:nvPr/>
        </p:nvSpPr>
        <p:spPr>
          <a:xfrm>
            <a:off x="1417320" y="164592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ja-JP" sz="1600" b="1" dirty="0">
                <a:solidFill>
                  <a:schemeClr val="tx2"/>
                </a:solidFill>
              </a:rPr>
              <a:t>現行版ガイドラインの値の最大値</a:t>
            </a:r>
            <a:endParaRPr lang="ja-JP" sz="1600" dirty="0"/>
          </a:p>
          <a:p>
            <a:pPr marL="0" indent="0">
              <a:spcAft>
                <a:spcPts val="400"/>
              </a:spcAft>
              <a:buNone/>
            </a:pPr>
            <a:r>
              <a:rPr lang="ja-JP" sz="1300" dirty="0">
                <a:solidFill>
                  <a:schemeClr val="tx1"/>
                </a:solidFill>
              </a:rPr>
              <a:t>旧版は除外</a:t>
            </a:r>
            <a:endParaRPr lang="ja-JP" sz="1600" dirty="0"/>
          </a:p>
        </p:txBody>
      </p:sp>
      <p:sp>
        <p:nvSpPr>
          <p:cNvPr id="7" name="arrow"/>
          <p:cNvSpPr txBox="1"/>
          <p:nvPr/>
        </p:nvSpPr>
        <p:spPr>
          <a:xfrm>
            <a:off x="3794760" y="1417320"/>
            <a:ext cx="67802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sz="2600" b="1" dirty="0">
                <a:solidFill>
                  <a:schemeClr val="accent1"/>
                </a:solidFill>
              </a:rPr>
              <a:t>→</a:t>
            </a:r>
            <a:endParaRPr lang="ja-JP" sz="2600" dirty="0"/>
          </a:p>
        </p:txBody>
      </p:sp>
      <p:sp>
        <p:nvSpPr>
          <p:cNvPr id="8" name="card"/>
          <p:cNvSpPr/>
          <p:nvPr/>
        </p:nvSpPr>
        <p:spPr>
          <a:xfrm>
            <a:off x="4472788" y="1417320"/>
            <a:ext cx="32461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rgbClr val="6E85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badge"/>
          <p:cNvSpPr/>
          <p:nvPr/>
        </p:nvSpPr>
        <p:spPr>
          <a:xfrm>
            <a:off x="4701388" y="1645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badge-label"/>
          <p:cNvSpPr txBox="1"/>
          <p:nvPr/>
        </p:nvSpPr>
        <p:spPr>
          <a:xfrm>
            <a:off x="4701388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sz="1500" b="1" dirty="0">
                <a:solidFill>
                  <a:schemeClr val="bg1"/>
                </a:solidFill>
              </a:rPr>
              <a:t>2</a:t>
            </a:r>
            <a:endParaRPr lang="ja-JP" sz="1500" dirty="0"/>
          </a:p>
        </p:txBody>
      </p:sp>
      <p:sp>
        <p:nvSpPr>
          <p:cNvPr id="11" name="text"/>
          <p:cNvSpPr txBox="1"/>
          <p:nvPr/>
        </p:nvSpPr>
        <p:spPr>
          <a:xfrm>
            <a:off x="5341468" y="164592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ja-JP" sz="1600" b="1" dirty="0">
                <a:solidFill>
                  <a:schemeClr val="tx2"/>
                </a:solidFill>
              </a:rPr>
              <a:t>PMDA 添付文書の値の最大値</a:t>
            </a:r>
            <a:endParaRPr lang="ja-JP" sz="1600" dirty="0"/>
          </a:p>
          <a:p>
            <a:pPr marL="0" indent="0">
              <a:spcAft>
                <a:spcPts val="400"/>
              </a:spcAft>
              <a:buNone/>
            </a:pPr>
            <a:r>
              <a:rPr lang="ja-JP" sz="1300" dirty="0">
                <a:solidFill>
                  <a:schemeClr val="tx1"/>
                </a:solidFill>
              </a:rPr>
              <a:t>ガイドラインに記載がない場合</a:t>
            </a:r>
            <a:endParaRPr lang="ja-JP" sz="1600" dirty="0"/>
          </a:p>
        </p:txBody>
      </p:sp>
      <p:sp>
        <p:nvSpPr>
          <p:cNvPr id="12" name="arrow"/>
          <p:cNvSpPr txBox="1"/>
          <p:nvPr/>
        </p:nvSpPr>
        <p:spPr>
          <a:xfrm>
            <a:off x="7718908" y="1417320"/>
            <a:ext cx="67802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sz="2600" b="1" dirty="0">
                <a:solidFill>
                  <a:schemeClr val="accent1"/>
                </a:solidFill>
              </a:rPr>
              <a:t>→</a:t>
            </a:r>
            <a:endParaRPr lang="ja-JP" sz="2600" dirty="0"/>
          </a:p>
        </p:txBody>
      </p:sp>
      <p:sp>
        <p:nvSpPr>
          <p:cNvPr id="13" name="card"/>
          <p:cNvSpPr/>
          <p:nvPr/>
        </p:nvSpPr>
        <p:spPr>
          <a:xfrm>
            <a:off x="8396935" y="1417320"/>
            <a:ext cx="32461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rgbClr val="6E85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badge"/>
          <p:cNvSpPr/>
          <p:nvPr/>
        </p:nvSpPr>
        <p:spPr>
          <a:xfrm>
            <a:off x="8625535" y="1645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badge-label"/>
          <p:cNvSpPr txBox="1"/>
          <p:nvPr/>
        </p:nvSpPr>
        <p:spPr>
          <a:xfrm>
            <a:off x="8625535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sz="1500" b="1" dirty="0">
                <a:solidFill>
                  <a:schemeClr val="bg1"/>
                </a:solidFill>
              </a:rPr>
              <a:t>3</a:t>
            </a:r>
            <a:endParaRPr lang="ja-JP" sz="1500" dirty="0"/>
          </a:p>
        </p:txBody>
      </p:sp>
      <p:sp>
        <p:nvSpPr>
          <p:cNvPr id="16" name="text"/>
          <p:cNvSpPr txBox="1"/>
          <p:nvPr/>
        </p:nvSpPr>
        <p:spPr>
          <a:xfrm>
            <a:off x="9265615" y="164592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ja-JP" sz="1600" b="1" dirty="0">
                <a:solidFill>
                  <a:schemeClr val="tx2"/>
                </a:solidFill>
              </a:rPr>
              <a:t>作者の採用値</a:t>
            </a:r>
            <a:endParaRPr lang="ja-JP" sz="1600" dirty="0"/>
          </a:p>
          <a:p>
            <a:pPr marL="0" indent="0">
              <a:spcAft>
                <a:spcPts val="400"/>
              </a:spcAft>
              <a:buNone/>
            </a:pPr>
            <a:r>
              <a:rPr lang="ja-JP" sz="1300" dirty="0">
                <a:solidFill>
                  <a:schemeClr val="tx1"/>
                </a:solidFill>
              </a:rPr>
              <a:t>どちらにもない場合</a:t>
            </a:r>
            <a:endParaRPr lang="ja-JP" sz="1600" dirty="0"/>
          </a:p>
        </p:txBody>
      </p:sp>
      <p:sp>
        <p:nvSpPr>
          <p:cNvPr id="17" name="text"/>
          <p:cNvSpPr txBox="1"/>
          <p:nvPr/>
        </p:nvSpPr>
        <p:spPr>
          <a:xfrm>
            <a:off x="548640" y="3337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sz="1600" b="1" dirty="0">
                <a:solidFill>
                  <a:schemeClr val="tx2"/>
                </a:solidFill>
              </a:rPr>
              <a:t>例: アピキサバン (周術期)</a:t>
            </a:r>
            <a:endParaRPr lang="ja-JP" sz="1600" dirty="0"/>
          </a:p>
        </p:txBody>
      </p:sp>
      <p:graphicFrame>
        <p:nvGraphicFramePr>
          <p:cNvPr id="1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49040"/>
          <a:ext cx="7498080" cy="914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300" b="1" dirty="0">
                          <a:solidFill>
                            <a:schemeClr val="tx2"/>
                          </a:solidFill>
                        </a:rPr>
                        <a:t>出典</a:t>
                      </a:r>
                      <a:endParaRPr lang="ja-JP" sz="13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300" b="1" dirty="0">
                          <a:solidFill>
                            <a:schemeClr val="tx2"/>
                          </a:solidFill>
                        </a:rPr>
                        <a:t>出血リスク高</a:t>
                      </a:r>
                      <a:endParaRPr lang="ja-JP" sz="13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300" b="1" dirty="0">
                          <a:solidFill>
                            <a:schemeClr val="tx2"/>
                          </a:solidFill>
                        </a:rPr>
                        <a:t>出血リスク低</a:t>
                      </a:r>
                      <a:endParaRPr lang="ja-JP" sz="13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300" b="1" dirty="0">
                          <a:solidFill>
                            <a:schemeClr val="tx2"/>
                          </a:solidFill>
                        </a:rPr>
                        <a:t>値の出どころ</a:t>
                      </a:r>
                      <a:endParaRPr lang="ja-JP" sz="13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300" dirty="0">
                          <a:solidFill>
                            <a:schemeClr val="tx1"/>
                          </a:solidFill>
                        </a:rPr>
                        <a:t>JSA・JSRA・JSPC 2026 改訂第 2 版</a:t>
                      </a:r>
                      <a:endParaRPr lang="ja-JP" sz="13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300" dirty="0">
                          <a:solidFill>
                            <a:schemeClr val="tx1"/>
                          </a:solidFill>
                        </a:rPr>
                        <a:t>3 日</a:t>
                      </a:r>
                      <a:endParaRPr lang="ja-JP" sz="13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300" dirty="0">
                          <a:solidFill>
                            <a:schemeClr val="tx1"/>
                          </a:solidFill>
                        </a:rPr>
                        <a:t>0 日</a:t>
                      </a:r>
                      <a:endParaRPr lang="ja-JP" sz="13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300" dirty="0">
                          <a:solidFill>
                            <a:schemeClr val="tx1"/>
                          </a:solidFill>
                        </a:rPr>
                        <a:t>直接記載</a:t>
                      </a:r>
                      <a:endParaRPr lang="ja-JP" sz="13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300" dirty="0">
                          <a:solidFill>
                            <a:schemeClr val="tx1"/>
                          </a:solidFill>
                        </a:rPr>
                        <a:t>ACC/AHA 2024</a:t>
                      </a:r>
                      <a:endParaRPr lang="ja-JP" sz="13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300" dirty="0">
                          <a:solidFill>
                            <a:schemeClr val="tx1"/>
                          </a:solidFill>
                        </a:rPr>
                        <a:t>2 日</a:t>
                      </a:r>
                      <a:endParaRPr lang="ja-JP" sz="13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300" dirty="0">
                          <a:solidFill>
                            <a:schemeClr val="tx1"/>
                          </a:solidFill>
                        </a:rPr>
                        <a:t>1 日</a:t>
                      </a:r>
                      <a:endParaRPr lang="ja-JP" sz="13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300" dirty="0">
                          <a:solidFill>
                            <a:schemeClr val="tx1"/>
                          </a:solidFill>
                        </a:rPr>
                        <a:t>直接記載</a:t>
                      </a:r>
                      <a:endParaRPr lang="ja-JP" sz="13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300" dirty="0">
                          <a:solidFill>
                            <a:schemeClr val="tx1"/>
                          </a:solidFill>
                        </a:rPr>
                        <a:t>PMDA 添付文書</a:t>
                      </a:r>
                      <a:endParaRPr lang="ja-JP" sz="13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300" dirty="0">
                          <a:solidFill>
                            <a:schemeClr val="tx1"/>
                          </a:solidFill>
                        </a:rPr>
                        <a:t>2 日</a:t>
                      </a:r>
                      <a:endParaRPr lang="ja-JP" sz="13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300" dirty="0">
                          <a:solidFill>
                            <a:schemeClr val="tx1"/>
                          </a:solidFill>
                        </a:rPr>
                        <a:t>1 日</a:t>
                      </a:r>
                      <a:endParaRPr lang="ja-JP" sz="13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ja-JP" sz="13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300" dirty="0">
                          <a:solidFill>
                            <a:schemeClr val="tx1"/>
                          </a:solidFill>
                        </a:rPr>
                        <a:t>表示用の値 (安全側)</a:t>
                      </a:r>
                      <a:endParaRPr lang="ja-JP" sz="13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300" dirty="0">
                          <a:solidFill>
                            <a:schemeClr val="tx1"/>
                          </a:solidFill>
                        </a:rPr>
                        <a:t>3 日</a:t>
                      </a:r>
                      <a:endParaRPr lang="ja-JP" sz="13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300" dirty="0">
                          <a:solidFill>
                            <a:schemeClr val="tx1"/>
                          </a:solidFill>
                        </a:rPr>
                        <a:t>1 日</a:t>
                      </a:r>
                      <a:endParaRPr lang="ja-JP" sz="13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300" dirty="0">
                          <a:solidFill>
                            <a:schemeClr val="tx1"/>
                          </a:solidFill>
                        </a:rPr>
                        <a:t>各列の最大値</a:t>
                      </a:r>
                      <a:endParaRPr lang="ja-JP" sz="13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card"/>
          <p:cNvSpPr/>
          <p:nvPr/>
        </p:nvSpPr>
        <p:spPr>
          <a:xfrm>
            <a:off x="8366760" y="3749040"/>
            <a:ext cx="3276295" cy="2103120"/>
          </a:xfrm>
          <a:prstGeom prst="roundRect">
            <a:avLst>
              <a:gd name="adj" fmla="val 5217"/>
            </a:avLst>
          </a:prstGeom>
          <a:solidFill>
            <a:srgbClr val="FFF6E5"/>
          </a:solidFill>
          <a:ln w="12700">
            <a:solidFill>
              <a:srgbClr val="9A6A1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"/>
          <p:cNvSpPr txBox="1"/>
          <p:nvPr/>
        </p:nvSpPr>
        <p:spPr>
          <a:xfrm>
            <a:off x="8595360" y="3931920"/>
            <a:ext cx="28190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sz="1300" dirty="0">
                <a:solidFill>
                  <a:schemeClr val="tx1"/>
                </a:solidFill>
              </a:rPr>
              <a:t>区域麻酔のガイドラインと一般手術・内視鏡のガイドラインでは想定する手技が違う。表示用の値はそれらの最長値なので、個々の場面では各ガイドラインの値と条件を確認する</a:t>
            </a:r>
            <a:endParaRPr lang="ja-JP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sz="3000" b="1" dirty="0">
                <a:solidFill>
                  <a:schemeClr val="tx2"/>
                </a:solidFill>
              </a:rPr>
              <a:t>値の出どころを区別する (value_derivation)</a:t>
            </a:r>
            <a:endParaRPr lang="ja-JP" sz="3000" dirty="0"/>
          </a:p>
        </p:txBody>
      </p:sp>
      <p:graphicFrame>
        <p:nvGraphicFramePr>
          <p:cNvPr id="3" name="derivation-chart"/>
          <p:cNvGraphicFramePr/>
          <p:nvPr/>
        </p:nvGraphicFramePr>
        <p:xfrm>
          <a:off x="548640" y="1325880"/>
          <a:ext cx="56692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417320"/>
          <a:ext cx="5150815" cy="9144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3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300" b="1" dirty="0">
                          <a:solidFill>
                            <a:schemeClr val="tx2"/>
                          </a:solidFill>
                        </a:rPr>
                        <a:t>値</a:t>
                      </a:r>
                      <a:endParaRPr lang="ja-JP" sz="13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300" b="1" dirty="0">
                          <a:solidFill>
                            <a:schemeClr val="tx2"/>
                          </a:solidFill>
                        </a:rPr>
                        <a:t>意味</a:t>
                      </a:r>
                      <a:endParaRPr lang="ja-JP" sz="13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300" dirty="0">
                          <a:solidFill>
                            <a:schemeClr val="tx1"/>
                          </a:solidFill>
                        </a:rPr>
                        <a:t>direct</a:t>
                      </a:r>
                      <a:endParaRPr lang="ja-JP" sz="13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300" dirty="0">
                          <a:solidFill>
                            <a:schemeClr val="tx1"/>
                          </a:solidFill>
                        </a:rPr>
                        <a:t>ガイドラインがその薬の値を直接記載</a:t>
                      </a:r>
                      <a:endParaRPr lang="ja-JP" sz="13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300" dirty="0">
                          <a:solidFill>
                            <a:schemeClr val="tx1"/>
                          </a:solidFill>
                        </a:rPr>
                        <a:t>class</a:t>
                      </a:r>
                      <a:endParaRPr lang="ja-JP" sz="13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300" dirty="0">
                          <a:solidFill>
                            <a:schemeClr val="tx1"/>
                          </a:solidFill>
                        </a:rPr>
                        <a:t>ガイドラインは薬効クラス (例: SGLT2 阻害薬) 単位で推奨。その値を個々の薬に当てはめた</a:t>
                      </a:r>
                      <a:endParaRPr lang="ja-JP" sz="13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300" dirty="0">
                          <a:solidFill>
                            <a:schemeClr val="tx1"/>
                          </a:solidFill>
                        </a:rPr>
                        <a:t>derived</a:t>
                      </a:r>
                      <a:endParaRPr lang="ja-JP" sz="13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300" dirty="0">
                          <a:solidFill>
                            <a:schemeClr val="tx1"/>
                          </a:solidFill>
                        </a:rPr>
                        <a:t>「半減期の N 倍」などのルールから作者が計算した値</a:t>
                      </a:r>
                      <a:endParaRPr lang="ja-JP" sz="13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300" dirty="0">
                          <a:solidFill>
                            <a:schemeClr val="tx1"/>
                          </a:solidFill>
                        </a:rPr>
                        <a:t>(なし)</a:t>
                      </a:r>
                      <a:endParaRPr lang="ja-JP" sz="13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300" dirty="0">
                          <a:solidFill>
                            <a:schemeClr val="tx1"/>
                          </a:solidFill>
                        </a:rPr>
                        <a:t>未分類 (PMDA 添付文書などの手入力値)</a:t>
                      </a:r>
                      <a:endParaRPr lang="ja-JP" sz="13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card"/>
          <p:cNvSpPr/>
          <p:nvPr/>
        </p:nvSpPr>
        <p:spPr>
          <a:xfrm>
            <a:off x="6492240" y="4069080"/>
            <a:ext cx="5150815" cy="960120"/>
          </a:xfrm>
          <a:prstGeom prst="roundRect">
            <a:avLst>
              <a:gd name="adj" fmla="val 11429"/>
            </a:avLst>
          </a:prstGeom>
          <a:solidFill>
            <a:srgbClr val="FBEDEB"/>
          </a:solidFill>
          <a:ln w="12700">
            <a:solidFill>
              <a:srgbClr val="C2564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"/>
          <p:cNvSpPr txBox="1"/>
          <p:nvPr/>
        </p:nvSpPr>
        <p:spPr>
          <a:xfrm>
            <a:off x="6720840" y="4069080"/>
            <a:ext cx="46936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sz="1500" b="1" dirty="0">
                <a:solidFill>
                  <a:schemeClr val="accent2"/>
                </a:solidFill>
              </a:rPr>
              <a:t>direct 以外は、ガイドラインにその薬の日数が明記されているわけではない</a:t>
            </a:r>
            <a:endParaRPr lang="ja-JP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sz="3000" b="1" dirty="0">
                <a:solidFill>
                  <a:schemeClr val="tx2"/>
                </a:solidFill>
              </a:rPr>
              <a:t>根拠の確認状況: 原文と照合できたものだけを verified に</a:t>
            </a:r>
            <a:endParaRPr lang="ja-JP" sz="3000" dirty="0"/>
          </a:p>
        </p:txBody>
      </p:sp>
      <p:graphicFrame>
        <p:nvGraphicFramePr>
          <p:cNvPr id="3" name="verification-chart"/>
          <p:cNvGraphicFramePr/>
          <p:nvPr/>
        </p:nvGraphicFramePr>
        <p:xfrm>
          <a:off x="548640" y="1325880"/>
          <a:ext cx="585216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card"/>
          <p:cNvSpPr/>
          <p:nvPr/>
        </p:nvSpPr>
        <p:spPr>
          <a:xfrm>
            <a:off x="6675120" y="1417320"/>
            <a:ext cx="4967935" cy="1600200"/>
          </a:xfrm>
          <a:prstGeom prst="roundRect">
            <a:avLst>
              <a:gd name="adj" fmla="val 6857"/>
            </a:avLst>
          </a:prstGeom>
          <a:solidFill>
            <a:schemeClr val="accent4"/>
          </a:solidFill>
          <a:ln w="12700">
            <a:solidFill>
              <a:srgbClr val="6E85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verified-stat"/>
          <p:cNvSpPr txBox="1"/>
          <p:nvPr/>
        </p:nvSpPr>
        <p:spPr>
          <a:xfrm>
            <a:off x="6903720" y="1508760"/>
            <a:ext cx="451073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sz="3400" b="1" dirty="0">
                <a:solidFill>
                  <a:schemeClr val="tx2"/>
                </a:solidFill>
              </a:rPr>
              <a:t>142 / 152 剤</a:t>
            </a:r>
            <a:endParaRPr lang="ja-JP" sz="3400" dirty="0"/>
          </a:p>
          <a:p>
            <a:pPr marL="0" indent="0">
              <a:buNone/>
            </a:pPr>
            <a:r>
              <a:rPr lang="ja-JP" sz="1500" dirty="0">
                <a:solidFill>
                  <a:schemeClr val="tx1"/>
                </a:solidFill>
              </a:rPr>
              <a:t>で、原文と照合済みの出典が 1 件以上ある</a:t>
            </a:r>
            <a:endParaRPr lang="ja-JP" sz="3400" dirty="0"/>
          </a:p>
        </p:txBody>
      </p:sp>
      <p:sp>
        <p:nvSpPr>
          <p:cNvPr id="6" name="text"/>
          <p:cNvSpPr txBox="1"/>
          <p:nvPr/>
        </p:nvSpPr>
        <p:spPr>
          <a:xfrm>
            <a:off x="6675120" y="3291840"/>
            <a:ext cx="496793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ja-JP" sz="1800" b="1" dirty="0">
                <a:solidFill>
                  <a:schemeClr val="tx2"/>
                </a:solidFill>
              </a:rPr>
              <a:t>verified にする条件</a:t>
            </a:r>
            <a:endParaRPr lang="ja-JP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ja-JP" sz="1400" dirty="0">
                <a:solidFill>
                  <a:schemeClr val="tx1"/>
                </a:solidFill>
              </a:rPr>
              <a:t>国内外の添付文書と、学会・公的機関の正式なガイドラインに限る</a:t>
            </a:r>
            <a:endParaRPr lang="ja-JP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ja-JP" sz="1400" dirty="0">
                <a:solidFill>
                  <a:schemeClr val="tx1"/>
                </a:solidFill>
              </a:rPr>
              <a:t>AI が原文を読んで照合し、作者が確認したもの</a:t>
            </a:r>
            <a:endParaRPr lang="ja-JP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ja-JP" sz="1400" dirty="0">
                <a:solidFill>
                  <a:schemeClr val="tx1"/>
                </a:solidFill>
              </a:rPr>
              <a:t>専門家の合意文書などの実務資料は helper_link に留める</a:t>
            </a:r>
            <a:endParaRPr lang="ja-JP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ja-JP" sz="1400" dirty="0">
                <a:solidFill>
                  <a:schemeClr val="tx1"/>
                </a:solidFill>
              </a:rPr>
              <a:t>要約・検索結果・AI の記憶は根拠にしない</a:t>
            </a:r>
            <a:endParaRPr lang="ja-JP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sz="3000" b="1" dirty="0">
                <a:solidFill>
                  <a:schemeClr val="tx2"/>
                </a:solidFill>
              </a:rPr>
              <a:t>更新し続ける仕組み: 三段構え</a:t>
            </a:r>
            <a:endParaRPr lang="ja-JP" sz="3000" dirty="0"/>
          </a:p>
        </p:txBody>
      </p:sp>
      <p:sp>
        <p:nvSpPr>
          <p:cNvPr id="3" name="text"/>
          <p:cNvSpPr txBox="1"/>
          <p:nvPr/>
        </p:nvSpPr>
        <p:spPr>
          <a:xfrm>
            <a:off x="548640" y="12801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sz="1500" dirty="0">
                <a:solidFill>
                  <a:schemeClr val="tx1"/>
                </a:solidFill>
              </a:rPr>
              <a:t>新しい商品名・後発品の発売、ガイドラインや添付文書の改訂、新薬の承認。どれか 1 つを見逃しても、データは静かに古くなる。一方で、更新のたびに誤りが混入する危険もある</a:t>
            </a:r>
            <a:endParaRPr lang="ja-JP" sz="1500" dirty="0"/>
          </a:p>
        </p:txBody>
      </p:sp>
      <p:sp>
        <p:nvSpPr>
          <p:cNvPr id="4" name="card"/>
          <p:cNvSpPr/>
          <p:nvPr/>
        </p:nvSpPr>
        <p:spPr>
          <a:xfrm>
            <a:off x="548640" y="2148840"/>
            <a:ext cx="3423818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rgbClr val="6E85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badge"/>
          <p:cNvSpPr/>
          <p:nvPr/>
        </p:nvSpPr>
        <p:spPr>
          <a:xfrm>
            <a:off x="822960" y="2377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badge-label"/>
          <p:cNvSpPr txBox="1"/>
          <p:nvPr/>
        </p:nvSpPr>
        <p:spPr>
          <a:xfrm>
            <a:off x="822960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sz="2000" b="1" dirty="0">
                <a:solidFill>
                  <a:schemeClr val="bg1"/>
                </a:solidFill>
              </a:rPr>
              <a:t>1</a:t>
            </a:r>
            <a:endParaRPr lang="ja-JP" sz="2000" dirty="0"/>
          </a:p>
        </p:txBody>
      </p:sp>
      <p:sp>
        <p:nvSpPr>
          <p:cNvPr id="7" name="text"/>
          <p:cNvSpPr txBox="1"/>
          <p:nvPr/>
        </p:nvSpPr>
        <p:spPr>
          <a:xfrm>
            <a:off x="1554480" y="2450592"/>
            <a:ext cx="2235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sz="1300" b="1" dirty="0">
                <a:solidFill>
                  <a:schemeClr val="accent1"/>
                </a:solidFill>
              </a:rPr>
              <a:t>毎月・自動</a:t>
            </a:r>
            <a:endParaRPr lang="ja-JP" sz="1300" dirty="0"/>
          </a:p>
        </p:txBody>
      </p:sp>
      <p:sp>
        <p:nvSpPr>
          <p:cNvPr id="8" name="text"/>
          <p:cNvSpPr txBox="1"/>
          <p:nvPr/>
        </p:nvSpPr>
        <p:spPr>
          <a:xfrm>
            <a:off x="822960" y="3108960"/>
            <a:ext cx="287517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ja-JP" sz="1800" b="1" dirty="0">
                <a:solidFill>
                  <a:schemeClr val="tx2"/>
                </a:solidFill>
              </a:rPr>
              <a:t>変化を検知する</a:t>
            </a:r>
            <a:endParaRPr lang="ja-JP" sz="1800" dirty="0"/>
          </a:p>
          <a:p>
            <a:pPr marL="0" indent="0">
              <a:spcAft>
                <a:spcPts val="400"/>
              </a:spcAft>
              <a:buNone/>
            </a:pPr>
            <a:r>
              <a:rPr lang="ja-JP" sz="1400" dirty="0">
                <a:solidFill>
                  <a:schemeClr val="tx1"/>
                </a:solidFill>
              </a:rPr>
              <a:t>商品名・後発品、薬価基準、学会ガイドライン (Web・PDF)、添付文書の改訂、新規承認薬</a:t>
            </a:r>
            <a:endParaRPr lang="ja-JP" sz="1800" dirty="0"/>
          </a:p>
        </p:txBody>
      </p:sp>
      <p:sp>
        <p:nvSpPr>
          <p:cNvPr id="9" name="arrow"/>
          <p:cNvSpPr txBox="1"/>
          <p:nvPr/>
        </p:nvSpPr>
        <p:spPr>
          <a:xfrm>
            <a:off x="3972458" y="2148840"/>
            <a:ext cx="4114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sz="2200" b="1" dirty="0">
                <a:solidFill>
                  <a:schemeClr val="accent1"/>
                </a:solidFill>
              </a:rPr>
              <a:t>→</a:t>
            </a:r>
            <a:endParaRPr lang="ja-JP" sz="2200" dirty="0"/>
          </a:p>
        </p:txBody>
      </p:sp>
      <p:sp>
        <p:nvSpPr>
          <p:cNvPr id="10" name="card"/>
          <p:cNvSpPr/>
          <p:nvPr/>
        </p:nvSpPr>
        <p:spPr>
          <a:xfrm>
            <a:off x="4383938" y="2148840"/>
            <a:ext cx="3423818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rgbClr val="6E85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badge"/>
          <p:cNvSpPr/>
          <p:nvPr/>
        </p:nvSpPr>
        <p:spPr>
          <a:xfrm>
            <a:off x="4658258" y="2377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badge-label"/>
          <p:cNvSpPr txBox="1"/>
          <p:nvPr/>
        </p:nvSpPr>
        <p:spPr>
          <a:xfrm>
            <a:off x="4658258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sz="2000" b="1" dirty="0">
                <a:solidFill>
                  <a:schemeClr val="bg1"/>
                </a:solidFill>
              </a:rPr>
              <a:t>2</a:t>
            </a:r>
            <a:endParaRPr lang="ja-JP" sz="2000" dirty="0"/>
          </a:p>
        </p:txBody>
      </p:sp>
      <p:sp>
        <p:nvSpPr>
          <p:cNvPr id="13" name="text"/>
          <p:cNvSpPr txBox="1"/>
          <p:nvPr/>
        </p:nvSpPr>
        <p:spPr>
          <a:xfrm>
            <a:off x="5389778" y="2450592"/>
            <a:ext cx="2235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sz="1300" b="1" dirty="0">
                <a:solidFill>
                  <a:schemeClr val="accent1"/>
                </a:solidFill>
              </a:rPr>
              <a:t>月 1 回</a:t>
            </a:r>
            <a:endParaRPr lang="ja-JP" sz="1300" dirty="0"/>
          </a:p>
        </p:txBody>
      </p:sp>
      <p:sp>
        <p:nvSpPr>
          <p:cNvPr id="14" name="text"/>
          <p:cNvSpPr txBox="1"/>
          <p:nvPr/>
        </p:nvSpPr>
        <p:spPr>
          <a:xfrm>
            <a:off x="4658258" y="3108960"/>
            <a:ext cx="287517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ja-JP" sz="1800" b="1" dirty="0">
                <a:solidFill>
                  <a:schemeClr val="tx2"/>
                </a:solidFill>
              </a:rPr>
              <a:t>原文で確認し、作者が承認</a:t>
            </a:r>
            <a:endParaRPr lang="ja-JP" sz="1800" dirty="0"/>
          </a:p>
          <a:p>
            <a:pPr marL="0" indent="0">
              <a:spcAft>
                <a:spcPts val="400"/>
              </a:spcAft>
              <a:buNone/>
            </a:pPr>
            <a:r>
              <a:rPr lang="ja-JP" sz="1400" dirty="0">
                <a:solidFill>
                  <a:schemeClr val="tx1"/>
                </a:solidFill>
              </a:rPr>
              <a:t>AI が原文を読んで照合し、差分と根拠を提示。作者が承認したものだけ反映</a:t>
            </a:r>
            <a:endParaRPr lang="ja-JP" sz="1800" dirty="0"/>
          </a:p>
        </p:txBody>
      </p:sp>
      <p:sp>
        <p:nvSpPr>
          <p:cNvPr id="15" name="arrow"/>
          <p:cNvSpPr txBox="1"/>
          <p:nvPr/>
        </p:nvSpPr>
        <p:spPr>
          <a:xfrm>
            <a:off x="7807757" y="2148840"/>
            <a:ext cx="4114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sz="2200" b="1" dirty="0">
                <a:solidFill>
                  <a:schemeClr val="accent1"/>
                </a:solidFill>
              </a:rPr>
              <a:t>→</a:t>
            </a:r>
            <a:endParaRPr lang="ja-JP" sz="2200" dirty="0"/>
          </a:p>
        </p:txBody>
      </p:sp>
      <p:sp>
        <p:nvSpPr>
          <p:cNvPr id="16" name="card"/>
          <p:cNvSpPr/>
          <p:nvPr/>
        </p:nvSpPr>
        <p:spPr>
          <a:xfrm>
            <a:off x="8219237" y="2148840"/>
            <a:ext cx="3423818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rgbClr val="6E85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badge"/>
          <p:cNvSpPr/>
          <p:nvPr/>
        </p:nvSpPr>
        <p:spPr>
          <a:xfrm>
            <a:off x="8493557" y="2377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badge-label"/>
          <p:cNvSpPr txBox="1"/>
          <p:nvPr/>
        </p:nvSpPr>
        <p:spPr>
          <a:xfrm>
            <a:off x="8493557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sz="2000" b="1" dirty="0">
                <a:solidFill>
                  <a:schemeClr val="bg1"/>
                </a:solidFill>
              </a:rPr>
              <a:t>3</a:t>
            </a:r>
            <a:endParaRPr lang="ja-JP" sz="2000" dirty="0"/>
          </a:p>
        </p:txBody>
      </p:sp>
      <p:sp>
        <p:nvSpPr>
          <p:cNvPr id="19" name="text"/>
          <p:cNvSpPr txBox="1"/>
          <p:nvPr/>
        </p:nvSpPr>
        <p:spPr>
          <a:xfrm>
            <a:off x="9225077" y="2450592"/>
            <a:ext cx="2235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sz="1300" b="1" dirty="0">
                <a:solidFill>
                  <a:schemeClr val="accent1"/>
                </a:solidFill>
              </a:rPr>
              <a:t>自動の検査</a:t>
            </a:r>
            <a:endParaRPr lang="ja-JP" sz="1300" dirty="0"/>
          </a:p>
        </p:txBody>
      </p:sp>
      <p:sp>
        <p:nvSpPr>
          <p:cNvPr id="20" name="text"/>
          <p:cNvSpPr txBox="1"/>
          <p:nvPr/>
        </p:nvSpPr>
        <p:spPr>
          <a:xfrm>
            <a:off x="8493557" y="3108960"/>
            <a:ext cx="287517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ja-JP" sz="1800" b="1" dirty="0">
                <a:solidFill>
                  <a:schemeClr val="tx2"/>
                </a:solidFill>
              </a:rPr>
              <a:t>誤りを入れない</a:t>
            </a:r>
            <a:endParaRPr lang="ja-JP" sz="1800" dirty="0"/>
          </a:p>
          <a:p>
            <a:pPr marL="0" indent="0">
              <a:spcAft>
                <a:spcPts val="400"/>
              </a:spcAft>
              <a:buNone/>
            </a:pPr>
            <a:r>
              <a:rPr lang="ja-JP" sz="1400" dirty="0">
                <a:solidFill>
                  <a:schemeClr val="tx1"/>
                </a:solidFill>
              </a:rPr>
              <a:t>引用・数値が原文にあるか、既存の値が意図せず変わっていないか、公開物の整合性</a:t>
            </a:r>
            <a:endParaRPr lang="ja-JP" sz="1800" dirty="0"/>
          </a:p>
        </p:txBody>
      </p:sp>
      <p:sp>
        <p:nvSpPr>
          <p:cNvPr id="21" name="arrow"/>
          <p:cNvSpPr txBox="1"/>
          <p:nvPr/>
        </p:nvSpPr>
        <p:spPr>
          <a:xfrm>
            <a:off x="548640" y="4754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sz="2000" b="1" dirty="0">
                <a:solidFill>
                  <a:schemeClr val="accent1"/>
                </a:solidFill>
              </a:rPr>
              <a:t>↓</a:t>
            </a:r>
            <a:endParaRPr lang="ja-JP" sz="2000" dirty="0"/>
          </a:p>
        </p:txBody>
      </p:sp>
      <p:sp>
        <p:nvSpPr>
          <p:cNvPr id="22" name="card"/>
          <p:cNvSpPr/>
          <p:nvPr/>
        </p:nvSpPr>
        <p:spPr>
          <a:xfrm>
            <a:off x="548640" y="5120640"/>
            <a:ext cx="11094415" cy="6858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"/>
          <p:cNvSpPr txBox="1"/>
          <p:nvPr/>
        </p:nvSpPr>
        <p:spPr>
          <a:xfrm>
            <a:off x="822960" y="512064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sz="1600" b="1" dirty="0">
                <a:solidFill>
                  <a:schemeClr val="bg1"/>
                </a:solidFill>
              </a:rPr>
              <a:t>すべて通過したものだけが、正本から公開データ・API・参照アプリへ自動で反映される</a:t>
            </a:r>
            <a:endParaRPr lang="ja-JP" sz="1600" dirty="0"/>
          </a:p>
        </p:txBody>
      </p:sp>
      <p:sp>
        <p:nvSpPr>
          <p:cNvPr id="24" name="text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sz="1200" dirty="0">
                <a:solidFill>
                  <a:schemeClr val="accent5"/>
                </a:solidFill>
              </a:rPr>
              <a:t>反映の履歴は公開リポジトリのコミット履歴で確認できる</a:t>
            </a:r>
            <a:endParaRPr lang="ja-JP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sz="3000" b="1" dirty="0">
                <a:solidFill>
                  <a:schemeClr val="tx2"/>
                </a:solidFill>
              </a:rPr>
              <a:t>① 変化を漏れなく検知する (毎月・自動)</a:t>
            </a:r>
            <a:endParaRPr lang="ja-JP" sz="3000" dirty="0"/>
          </a:p>
        </p:txBody>
      </p:sp>
      <p:graphicFrame>
        <p:nvGraphicFramePr>
          <p:cNvPr id="1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02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400" b="1" dirty="0">
                          <a:solidFill>
                            <a:schemeClr val="tx2"/>
                          </a:solidFill>
                        </a:rPr>
                        <a:t>監視対象</a:t>
                      </a:r>
                      <a:endParaRPr lang="ja-JP" sz="14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400" b="1" dirty="0">
                          <a:solidFill>
                            <a:schemeClr val="tx2"/>
                          </a:solidFill>
                        </a:rPr>
                        <a:t>収集日</a:t>
                      </a:r>
                      <a:endParaRPr lang="ja-JP" sz="14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400" b="1" dirty="0">
                          <a:solidFill>
                            <a:schemeClr val="tx2"/>
                          </a:solidFill>
                        </a:rPr>
                        <a:t>検知し、どうするか</a:t>
                      </a:r>
                      <a:endParaRPr lang="ja-JP" sz="14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400" dirty="0">
                          <a:solidFill>
                            <a:schemeClr val="tx1"/>
                          </a:solidFill>
                        </a:rPr>
                        <a:t>商品名・後発品 (KEGG 医薬品データベース)</a:t>
                      </a:r>
                      <a:endParaRPr lang="ja-JP" sz="14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400" dirty="0">
                          <a:solidFill>
                            <a:schemeClr val="tx1"/>
                          </a:solidFill>
                        </a:rPr>
                        <a:t>毎月 1 日</a:t>
                      </a:r>
                      <a:endParaRPr lang="ja-JP" sz="14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400" dirty="0">
                          <a:solidFill>
                            <a:schemeClr val="tx1"/>
                          </a:solidFill>
                        </a:rPr>
                        <a:t>新しい名称の追加のみを自動で提案。確定済みの名称の削除・格下げがあれば提案自体を止める</a:t>
                      </a:r>
                      <a:endParaRPr lang="ja-JP" sz="14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400" dirty="0">
                          <a:solidFill>
                            <a:schemeClr val="tx1"/>
                          </a:solidFill>
                        </a:rPr>
                        <a:t>薬価基準 (厚生労働省)</a:t>
                      </a:r>
                      <a:endParaRPr lang="ja-JP" sz="14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400" dirty="0">
                          <a:solidFill>
                            <a:schemeClr val="tx1"/>
                          </a:solidFill>
                        </a:rPr>
                        <a:t>毎月 1 日</a:t>
                      </a:r>
                      <a:endParaRPr lang="ja-JP" sz="14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400" dirty="0">
                          <a:solidFill>
                            <a:schemeClr val="tx1"/>
                          </a:solidFill>
                        </a:rPr>
                        <a:t>収載品目と照合し、新規収載・名称変更などの差分を通知</a:t>
                      </a:r>
                      <a:endParaRPr lang="ja-JP" sz="14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400" dirty="0">
                          <a:solidFill>
                            <a:schemeClr val="tx1"/>
                          </a:solidFill>
                        </a:rPr>
                        <a:t>学会ガイドラインの Web ページ</a:t>
                      </a:r>
                      <a:endParaRPr lang="ja-JP" sz="14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400" dirty="0">
                          <a:solidFill>
                            <a:schemeClr val="tx1"/>
                          </a:solidFill>
                        </a:rPr>
                        <a:t>毎月 5 日</a:t>
                      </a:r>
                      <a:endParaRPr lang="ja-JP" sz="14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400" dirty="0">
                          <a:solidFill>
                            <a:schemeClr val="tx1"/>
                          </a:solidFill>
                        </a:rPr>
                        <a:t>掲載ページの変化 (新版の掲載など) を通知。新版は抽出の下準備まで自動</a:t>
                      </a:r>
                      <a:endParaRPr lang="ja-JP" sz="14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400" dirty="0">
                          <a:solidFill>
                            <a:schemeClr val="tx1"/>
                          </a:solidFill>
                        </a:rPr>
                        <a:t>ガイドライン PDF</a:t>
                      </a:r>
                      <a:endParaRPr lang="ja-JP" sz="14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400" dirty="0">
                          <a:solidFill>
                            <a:schemeClr val="tx1"/>
                          </a:solidFill>
                        </a:rPr>
                        <a:t>毎月 7 日</a:t>
                      </a:r>
                      <a:endParaRPr lang="ja-JP" sz="14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400" dirty="0">
                          <a:solidFill>
                            <a:schemeClr val="tx1"/>
                          </a:solidFill>
                        </a:rPr>
                        <a:t>サイズ・更新日時・ファイル名の変化から改訂を検知</a:t>
                      </a:r>
                      <a:endParaRPr lang="ja-JP" sz="14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400" dirty="0">
                          <a:solidFill>
                            <a:schemeClr val="tx1"/>
                          </a:solidFill>
                        </a:rPr>
                        <a:t>PMDA 添付文書</a:t>
                      </a:r>
                      <a:endParaRPr lang="ja-JP" sz="14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400" dirty="0">
                          <a:solidFill>
                            <a:schemeClr val="tx1"/>
                          </a:solidFill>
                        </a:rPr>
                        <a:t>毎月 9 日</a:t>
                      </a:r>
                      <a:endParaRPr lang="ja-JP" sz="14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400" dirty="0">
                          <a:solidFill>
                            <a:schemeClr val="tx1"/>
                          </a:solidFill>
                        </a:rPr>
                        <a:t>PDF の内容 (ハッシュ値) を比較し、改訂を検知したら最新版を取得</a:t>
                      </a:r>
                      <a:endParaRPr lang="ja-JP" sz="14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400" dirty="0">
                          <a:solidFill>
                            <a:schemeClr val="tx1"/>
                          </a:solidFill>
                        </a:rPr>
                        <a:t>PMDA 新規承認薬 (メディナビのメール)</a:t>
                      </a:r>
                      <a:endParaRPr lang="ja-JP" sz="14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400" dirty="0">
                          <a:solidFill>
                            <a:schemeClr val="tx1"/>
                          </a:solidFill>
                        </a:rPr>
                        <a:t>配信のたび</a:t>
                      </a:r>
                      <a:endParaRPr lang="ja-JP" sz="14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400" dirty="0">
                          <a:solidFill>
                            <a:schemeClr val="tx1"/>
                          </a:solidFill>
                        </a:rPr>
                        <a:t>毎日取り込み、周術期の休薬に関わる可能性のある薬を AI が判定</a:t>
                      </a:r>
                      <a:endParaRPr lang="ja-JP" sz="14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card"/>
          <p:cNvSpPr/>
          <p:nvPr/>
        </p:nvSpPr>
        <p:spPr>
          <a:xfrm>
            <a:off x="548640" y="5257800"/>
            <a:ext cx="11094415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rgbClr val="6E85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"/>
          <p:cNvSpPr txBox="1"/>
          <p:nvPr/>
        </p:nvSpPr>
        <p:spPr>
          <a:xfrm>
            <a:off x="822960" y="525780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sz="1400" b="1" dirty="0">
                <a:solidFill>
                  <a:schemeClr val="tx2"/>
                </a:solidFill>
              </a:rPr>
              <a:t>検知は自動だが、休薬日数を自動で書き換えることはしない。変化は月 1 回の承認ページにまとめて作者が判断するため、改訂から反映まで 最大 3 か月程度かかることがある</a:t>
            </a:r>
            <a:endParaRPr lang="ja-JP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sz="3000" b="1" dirty="0">
                <a:solidFill>
                  <a:schemeClr val="tx2"/>
                </a:solidFill>
              </a:rPr>
              <a:t>AI の役割: AI の発達で初めて実現した網羅性</a:t>
            </a:r>
            <a:endParaRPr lang="ja-JP" sz="3000" dirty="0"/>
          </a:p>
        </p:txBody>
      </p:sp>
      <p:sp>
        <p:nvSpPr>
          <p:cNvPr id="3" name="text"/>
          <p:cNvSpPr txBox="1"/>
          <p:nvPr/>
        </p:nvSpPr>
        <p:spPr>
          <a:xfrm>
            <a:off x="548640" y="12801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sz="1500" dirty="0">
                <a:solidFill>
                  <a:schemeClr val="tx1"/>
                </a:solidFill>
              </a:rPr>
              <a:t>150 剤を超える薬 × 30 本を超えるガイドライン × 数百の添付文書。この規模のデータを医師 1 人で正確に保ち続けることは、AI なしには不可能だった</a:t>
            </a:r>
            <a:endParaRPr lang="ja-JP" sz="1500" dirty="0"/>
          </a:p>
        </p:txBody>
      </p:sp>
      <p:sp>
        <p:nvSpPr>
          <p:cNvPr id="4" name="card"/>
          <p:cNvSpPr/>
          <p:nvPr/>
        </p:nvSpPr>
        <p:spPr>
          <a:xfrm>
            <a:off x="548640" y="2148840"/>
            <a:ext cx="3515258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rgbClr val="6E85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badge"/>
          <p:cNvSpPr/>
          <p:nvPr/>
        </p:nvSpPr>
        <p:spPr>
          <a:xfrm>
            <a:off x="822960" y="2377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badge-label"/>
          <p:cNvSpPr txBox="1"/>
          <p:nvPr/>
        </p:nvSpPr>
        <p:spPr>
          <a:xfrm>
            <a:off x="822960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sz="2000" b="1" dirty="0">
                <a:solidFill>
                  <a:schemeClr val="bg1"/>
                </a:solidFill>
              </a:rPr>
              <a:t>1</a:t>
            </a:r>
            <a:endParaRPr lang="ja-JP" sz="2000" dirty="0"/>
          </a:p>
        </p:txBody>
      </p:sp>
      <p:sp>
        <p:nvSpPr>
          <p:cNvPr id="7" name="text"/>
          <p:cNvSpPr txBox="1"/>
          <p:nvPr/>
        </p:nvSpPr>
        <p:spPr>
          <a:xfrm>
            <a:off x="822960" y="3108960"/>
            <a:ext cx="296661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ja-JP" sz="1700" b="1" dirty="0">
                <a:solidFill>
                  <a:schemeClr val="tx2"/>
                </a:solidFill>
              </a:rPr>
              <a:t>新しいガイドラインの読み取り</a:t>
            </a:r>
            <a:endParaRPr lang="ja-JP" sz="1700" dirty="0"/>
          </a:p>
          <a:p>
            <a:pPr marL="0" indent="0">
              <a:spcAft>
                <a:spcPts val="400"/>
              </a:spcAft>
              <a:buNone/>
            </a:pPr>
            <a:r>
              <a:rPr lang="ja-JP" sz="1300" dirty="0">
                <a:solidFill>
                  <a:schemeClr val="tx1"/>
                </a:solidFill>
              </a:rPr>
              <a:t>改訂を検知すると、数十〜数百頁の PDF から周術期の休薬に関わる頁を探し、薬ごとの日数・条件・所在・引用を構造化データに抽出する</a:t>
            </a:r>
            <a:endParaRPr lang="ja-JP" sz="1700" dirty="0"/>
          </a:p>
        </p:txBody>
      </p:sp>
      <p:sp>
        <p:nvSpPr>
          <p:cNvPr id="8" name="card"/>
          <p:cNvSpPr/>
          <p:nvPr/>
        </p:nvSpPr>
        <p:spPr>
          <a:xfrm>
            <a:off x="4338218" y="2148840"/>
            <a:ext cx="3515258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rgbClr val="6E85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badge"/>
          <p:cNvSpPr/>
          <p:nvPr/>
        </p:nvSpPr>
        <p:spPr>
          <a:xfrm>
            <a:off x="4612538" y="2377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badge-label"/>
          <p:cNvSpPr txBox="1"/>
          <p:nvPr/>
        </p:nvSpPr>
        <p:spPr>
          <a:xfrm>
            <a:off x="4612538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sz="2000" b="1" dirty="0">
                <a:solidFill>
                  <a:schemeClr val="bg1"/>
                </a:solidFill>
              </a:rPr>
              <a:t>2</a:t>
            </a:r>
            <a:endParaRPr lang="ja-JP" sz="2000" dirty="0"/>
          </a:p>
        </p:txBody>
      </p:sp>
      <p:sp>
        <p:nvSpPr>
          <p:cNvPr id="11" name="text"/>
          <p:cNvSpPr txBox="1"/>
          <p:nvPr/>
        </p:nvSpPr>
        <p:spPr>
          <a:xfrm>
            <a:off x="4612538" y="3108960"/>
            <a:ext cx="296661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ja-JP" sz="1700" b="1" dirty="0">
                <a:solidFill>
                  <a:schemeClr val="tx2"/>
                </a:solidFill>
              </a:rPr>
              <a:t>原文との照合</a:t>
            </a:r>
            <a:endParaRPr lang="ja-JP" sz="1700" dirty="0"/>
          </a:p>
          <a:p>
            <a:pPr marL="0" indent="0">
              <a:spcAft>
                <a:spcPts val="400"/>
              </a:spcAft>
              <a:buNone/>
            </a:pPr>
            <a:r>
              <a:rPr lang="ja-JP" sz="1300" dirty="0">
                <a:solidFill>
                  <a:schemeClr val="tx1"/>
                </a:solidFill>
              </a:rPr>
              <a:t>既存データの根拠を確かめるときも、AI が原文 PDF を実際に読み、引用・頁・表番号・日数を突き合わせて違いと根拠を作者に示す</a:t>
            </a:r>
            <a:endParaRPr lang="ja-JP" sz="1700" dirty="0"/>
          </a:p>
        </p:txBody>
      </p:sp>
      <p:sp>
        <p:nvSpPr>
          <p:cNvPr id="12" name="card"/>
          <p:cNvSpPr/>
          <p:nvPr/>
        </p:nvSpPr>
        <p:spPr>
          <a:xfrm>
            <a:off x="8127797" y="2148840"/>
            <a:ext cx="3515258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rgbClr val="6E85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badge"/>
          <p:cNvSpPr/>
          <p:nvPr/>
        </p:nvSpPr>
        <p:spPr>
          <a:xfrm>
            <a:off x="8402117" y="2377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badge-label"/>
          <p:cNvSpPr txBox="1"/>
          <p:nvPr/>
        </p:nvSpPr>
        <p:spPr>
          <a:xfrm>
            <a:off x="8402117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sz="2000" b="1" dirty="0">
                <a:solidFill>
                  <a:schemeClr val="bg1"/>
                </a:solidFill>
              </a:rPr>
              <a:t>3</a:t>
            </a:r>
            <a:endParaRPr lang="ja-JP" sz="2000" dirty="0"/>
          </a:p>
        </p:txBody>
      </p:sp>
      <p:sp>
        <p:nvSpPr>
          <p:cNvPr id="15" name="text"/>
          <p:cNvSpPr txBox="1"/>
          <p:nvPr/>
        </p:nvSpPr>
        <p:spPr>
          <a:xfrm>
            <a:off x="8402117" y="3108960"/>
            <a:ext cx="296661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ja-JP" sz="1700" b="1" dirty="0">
                <a:solidFill>
                  <a:schemeClr val="tx2"/>
                </a:solidFill>
              </a:rPr>
              <a:t>新規承認薬の判定</a:t>
            </a:r>
            <a:endParaRPr lang="ja-JP" sz="1700" dirty="0"/>
          </a:p>
          <a:p>
            <a:pPr marL="0" indent="0">
              <a:spcAft>
                <a:spcPts val="400"/>
              </a:spcAft>
              <a:buNone/>
            </a:pPr>
            <a:r>
              <a:rPr lang="ja-JP" sz="1300" dirty="0">
                <a:solidFill>
                  <a:schemeClr val="tx1"/>
                </a:solidFill>
              </a:rPr>
              <a:t>PMDA の承認情報メールから休薬に関わりうる薬を拾う。挙げた販売名はメール本文とプログラムで照合し、本文にない名前は除外する</a:t>
            </a:r>
            <a:endParaRPr lang="ja-JP" sz="1700" dirty="0"/>
          </a:p>
        </p:txBody>
      </p:sp>
      <p:sp>
        <p:nvSpPr>
          <p:cNvPr id="16" name="card"/>
          <p:cNvSpPr/>
          <p:nvPr/>
        </p:nvSpPr>
        <p:spPr>
          <a:xfrm>
            <a:off x="548640" y="5303520"/>
            <a:ext cx="11094415" cy="731520"/>
          </a:xfrm>
          <a:prstGeom prst="roundRect">
            <a:avLst>
              <a:gd name="adj" fmla="val 15000"/>
            </a:avLst>
          </a:prstGeom>
          <a:solidFill>
            <a:srgbClr val="FFF6E5"/>
          </a:solidFill>
          <a:ln w="12700">
            <a:solidFill>
              <a:srgbClr val="9A6A1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"/>
          <p:cNvSpPr txBox="1"/>
          <p:nvPr/>
        </p:nvSpPr>
        <p:spPr>
          <a:xfrm>
            <a:off x="822960" y="530352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sz="1400" dirty="0">
                <a:solidFill>
                  <a:schemeClr val="tx1"/>
                </a:solidFill>
              </a:rPr>
              <a:t>決まった手順で確実にできる部分 (商品名の収集・薬価基準・PDF や添付文書の改訂検知) には AI を使わない。これも誤りを減らす工夫の一つ</a:t>
            </a:r>
            <a:endParaRPr lang="ja-JP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sz="3000" b="1" dirty="0">
                <a:solidFill>
                  <a:schemeClr val="tx2"/>
                </a:solidFill>
              </a:rPr>
              <a:t>ハルシネーション (AI のもっともらしい誤り) を防ぐ</a:t>
            </a:r>
            <a:endParaRPr lang="ja-JP" sz="3000" dirty="0"/>
          </a:p>
        </p:txBody>
      </p:sp>
      <p:sp>
        <p:nvSpPr>
          <p:cNvPr id="3" name="text"/>
          <p:cNvSpPr txBox="1"/>
          <p:nvPr/>
        </p:nvSpPr>
        <p:spPr>
          <a:xfrm>
            <a:off x="548640" y="12801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sz="1400" dirty="0">
                <a:solidFill>
                  <a:schemeClr val="tx1"/>
                </a:solidFill>
              </a:rPr>
              <a:t>実際に、表の番号のずれや、添付文書に書かれていない日数を「添付文書由来」とする誤りが見つかった。「AI の出力は誤りうる」ことを前提に、次の仕組みを重ねている</a:t>
            </a:r>
            <a:endParaRPr lang="ja-JP" sz="1400" dirty="0"/>
          </a:p>
        </p:txBody>
      </p:sp>
      <p:sp>
        <p:nvSpPr>
          <p:cNvPr id="4" name="badge"/>
          <p:cNvSpPr/>
          <p:nvPr/>
        </p:nvSpPr>
        <p:spPr>
          <a:xfrm>
            <a:off x="548640" y="21488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badge-label"/>
          <p:cNvSpPr txBox="1"/>
          <p:nvPr/>
        </p:nvSpPr>
        <p:spPr>
          <a:xfrm>
            <a:off x="5486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sz="1500" b="1" dirty="0">
                <a:solidFill>
                  <a:schemeClr val="bg1"/>
                </a:solidFill>
              </a:rPr>
              <a:t>1</a:t>
            </a:r>
            <a:endParaRPr lang="ja-JP" sz="1500" dirty="0"/>
          </a:p>
        </p:txBody>
      </p:sp>
      <p:sp>
        <p:nvSpPr>
          <p:cNvPr id="6" name="text"/>
          <p:cNvSpPr txBox="1"/>
          <p:nvPr/>
        </p:nvSpPr>
        <p:spPr>
          <a:xfrm>
            <a:off x="1188720" y="2103120"/>
            <a:ext cx="4724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ja-JP" sz="1500" b="1" dirty="0">
                <a:solidFill>
                  <a:schemeClr val="tx2"/>
                </a:solidFill>
              </a:rPr>
              <a:t>2 通りの読み方で独立に抽出</a:t>
            </a:r>
            <a:endParaRPr lang="ja-JP" sz="1500" dirty="0"/>
          </a:p>
          <a:p>
            <a:pPr marL="0" indent="0">
              <a:spcAft>
                <a:spcPts val="400"/>
              </a:spcAft>
              <a:buNone/>
            </a:pPr>
            <a:r>
              <a:rPr lang="ja-JP" sz="1300" dirty="0">
                <a:solidFill>
                  <a:schemeClr val="tx1"/>
                </a:solidFill>
              </a:rPr>
              <a:t>文書全体を一度に読む抽出と章ごとに読む抽出を、互いの結果を見せずに行う</a:t>
            </a:r>
            <a:endParaRPr lang="ja-JP" sz="1500" dirty="0"/>
          </a:p>
        </p:txBody>
      </p:sp>
      <p:sp>
        <p:nvSpPr>
          <p:cNvPr id="7" name="badge"/>
          <p:cNvSpPr/>
          <p:nvPr/>
        </p:nvSpPr>
        <p:spPr>
          <a:xfrm>
            <a:off x="548640" y="313639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badge-label"/>
          <p:cNvSpPr txBox="1"/>
          <p:nvPr/>
        </p:nvSpPr>
        <p:spPr>
          <a:xfrm>
            <a:off x="548640" y="3136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sz="1500" b="1" dirty="0">
                <a:solidFill>
                  <a:schemeClr val="bg1"/>
                </a:solidFill>
              </a:rPr>
              <a:t>2</a:t>
            </a:r>
            <a:endParaRPr lang="ja-JP" sz="1500" dirty="0"/>
          </a:p>
        </p:txBody>
      </p:sp>
      <p:sp>
        <p:nvSpPr>
          <p:cNvPr id="9" name="text"/>
          <p:cNvSpPr txBox="1"/>
          <p:nvPr/>
        </p:nvSpPr>
        <p:spPr>
          <a:xfrm>
            <a:off x="1188720" y="3090672"/>
            <a:ext cx="4724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ja-JP" sz="1500" b="1" dirty="0">
                <a:solidFill>
                  <a:schemeClr val="tx2"/>
                </a:solidFill>
              </a:rPr>
              <a:t>食い違いは原文で裁定</a:t>
            </a:r>
            <a:endParaRPr lang="ja-JP" sz="1500" dirty="0"/>
          </a:p>
          <a:p>
            <a:pPr marL="0" indent="0">
              <a:spcAft>
                <a:spcPts val="400"/>
              </a:spcAft>
              <a:buNone/>
            </a:pPr>
            <a:r>
              <a:rPr lang="ja-JP" sz="1300" dirty="0">
                <a:solidFill>
                  <a:schemeClr val="tx1"/>
                </a:solidFill>
              </a:rPr>
              <a:t>違いに関わる頁だけを原文 PDF から切り出し、AI が読み直して判定。経緯を記録する</a:t>
            </a:r>
            <a:endParaRPr lang="ja-JP" sz="1500" dirty="0"/>
          </a:p>
        </p:txBody>
      </p:sp>
      <p:sp>
        <p:nvSpPr>
          <p:cNvPr id="10" name="badge"/>
          <p:cNvSpPr/>
          <p:nvPr/>
        </p:nvSpPr>
        <p:spPr>
          <a:xfrm>
            <a:off x="548640" y="412394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badge-label"/>
          <p:cNvSpPr txBox="1"/>
          <p:nvPr/>
        </p:nvSpPr>
        <p:spPr>
          <a:xfrm>
            <a:off x="548640" y="4123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sz="1500" b="1" dirty="0">
                <a:solidFill>
                  <a:schemeClr val="bg1"/>
                </a:solidFill>
              </a:rPr>
              <a:t>3</a:t>
            </a:r>
            <a:endParaRPr lang="ja-JP" sz="1500" dirty="0"/>
          </a:p>
        </p:txBody>
      </p:sp>
      <p:sp>
        <p:nvSpPr>
          <p:cNvPr id="12" name="text"/>
          <p:cNvSpPr txBox="1"/>
          <p:nvPr/>
        </p:nvSpPr>
        <p:spPr>
          <a:xfrm>
            <a:off x="1188720" y="4078224"/>
            <a:ext cx="4724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ja-JP" sz="1500" b="1" dirty="0">
                <a:solidFill>
                  <a:schemeClr val="tx2"/>
                </a:solidFill>
              </a:rPr>
              <a:t>形式の検査</a:t>
            </a:r>
            <a:endParaRPr lang="ja-JP" sz="1500" dirty="0"/>
          </a:p>
          <a:p>
            <a:pPr marL="0" indent="0">
              <a:spcAft>
                <a:spcPts val="400"/>
              </a:spcAft>
              <a:buNone/>
            </a:pPr>
            <a:r>
              <a:rPr lang="ja-JP" sz="1300" dirty="0">
                <a:solidFill>
                  <a:schemeClr val="tx1"/>
                </a:solidFill>
              </a:rPr>
              <a:t>決められた形式 (スキーマ) に合わない抽出結果は不合格にする</a:t>
            </a:r>
            <a:endParaRPr lang="ja-JP" sz="1500" dirty="0"/>
          </a:p>
        </p:txBody>
      </p:sp>
      <p:sp>
        <p:nvSpPr>
          <p:cNvPr id="13" name="badge"/>
          <p:cNvSpPr/>
          <p:nvPr/>
        </p:nvSpPr>
        <p:spPr>
          <a:xfrm>
            <a:off x="548640" y="511149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badge-label"/>
          <p:cNvSpPr txBox="1"/>
          <p:nvPr/>
        </p:nvSpPr>
        <p:spPr>
          <a:xfrm>
            <a:off x="548640" y="5111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sz="1500" b="1" dirty="0">
                <a:solidFill>
                  <a:schemeClr val="bg1"/>
                </a:solidFill>
              </a:rPr>
              <a:t>4</a:t>
            </a:r>
            <a:endParaRPr lang="ja-JP" sz="1500" dirty="0"/>
          </a:p>
        </p:txBody>
      </p:sp>
      <p:sp>
        <p:nvSpPr>
          <p:cNvPr id="15" name="text"/>
          <p:cNvSpPr txBox="1"/>
          <p:nvPr/>
        </p:nvSpPr>
        <p:spPr>
          <a:xfrm>
            <a:off x="1188720" y="5065776"/>
            <a:ext cx="4724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ja-JP" sz="1500" b="1" dirty="0">
                <a:solidFill>
                  <a:schemeClr val="tx2"/>
                </a:solidFill>
              </a:rPr>
              <a:t>AI の出力は「未確認」扱い</a:t>
            </a:r>
            <a:endParaRPr lang="ja-JP" sz="1500" dirty="0"/>
          </a:p>
          <a:p>
            <a:pPr marL="0" indent="0">
              <a:spcAft>
                <a:spcPts val="400"/>
              </a:spcAft>
              <a:buNone/>
            </a:pPr>
            <a:r>
              <a:rPr lang="ja-JP" sz="1300" dirty="0">
                <a:solidFill>
                  <a:schemeClr val="tx1"/>
                </a:solidFill>
              </a:rPr>
              <a:t>作者が内容を確認するまで、公開データには反映しない</a:t>
            </a:r>
            <a:endParaRPr lang="ja-JP" sz="1500" dirty="0"/>
          </a:p>
        </p:txBody>
      </p:sp>
      <p:sp>
        <p:nvSpPr>
          <p:cNvPr id="16" name="badge"/>
          <p:cNvSpPr/>
          <p:nvPr/>
        </p:nvSpPr>
        <p:spPr>
          <a:xfrm>
            <a:off x="6233008" y="21488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badge-label"/>
          <p:cNvSpPr txBox="1"/>
          <p:nvPr/>
        </p:nvSpPr>
        <p:spPr>
          <a:xfrm>
            <a:off x="6233008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sz="1500" b="1" dirty="0">
                <a:solidFill>
                  <a:schemeClr val="bg1"/>
                </a:solidFill>
              </a:rPr>
              <a:t>5</a:t>
            </a:r>
            <a:endParaRPr lang="ja-JP" sz="1500" dirty="0"/>
          </a:p>
        </p:txBody>
      </p:sp>
      <p:sp>
        <p:nvSpPr>
          <p:cNvPr id="18" name="text"/>
          <p:cNvSpPr txBox="1"/>
          <p:nvPr/>
        </p:nvSpPr>
        <p:spPr>
          <a:xfrm>
            <a:off x="6873088" y="2103120"/>
            <a:ext cx="4724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ja-JP" sz="1500" b="1" dirty="0">
                <a:solidFill>
                  <a:schemeClr val="tx2"/>
                </a:solidFill>
              </a:rPr>
              <a:t>プログラムによる原文照合</a:t>
            </a:r>
            <a:endParaRPr lang="ja-JP" sz="1500" dirty="0"/>
          </a:p>
          <a:p>
            <a:pPr marL="0" indent="0">
              <a:spcAft>
                <a:spcPts val="400"/>
              </a:spcAft>
              <a:buNone/>
            </a:pPr>
            <a:r>
              <a:rPr lang="ja-JP" sz="1300" dirty="0">
                <a:solidFill>
                  <a:schemeClr val="tx1"/>
                </a:solidFill>
              </a:rPr>
              <a:t>引用が原文に文字どおりあるか、数値が薬の名前と一緒に現れるかを、AI ではなくプログラムで検査</a:t>
            </a:r>
            <a:endParaRPr lang="ja-JP" sz="1500" dirty="0"/>
          </a:p>
        </p:txBody>
      </p:sp>
      <p:sp>
        <p:nvSpPr>
          <p:cNvPr id="19" name="badge"/>
          <p:cNvSpPr/>
          <p:nvPr/>
        </p:nvSpPr>
        <p:spPr>
          <a:xfrm>
            <a:off x="6233008" y="313639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badge-label"/>
          <p:cNvSpPr txBox="1"/>
          <p:nvPr/>
        </p:nvSpPr>
        <p:spPr>
          <a:xfrm>
            <a:off x="6233008" y="3136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sz="1500" b="1" dirty="0">
                <a:solidFill>
                  <a:schemeClr val="bg1"/>
                </a:solidFill>
              </a:rPr>
              <a:t>6</a:t>
            </a:r>
            <a:endParaRPr lang="ja-JP" sz="1500" dirty="0"/>
          </a:p>
        </p:txBody>
      </p:sp>
      <p:sp>
        <p:nvSpPr>
          <p:cNvPr id="21" name="text"/>
          <p:cNvSpPr txBox="1"/>
          <p:nvPr/>
        </p:nvSpPr>
        <p:spPr>
          <a:xfrm>
            <a:off x="6873088" y="3090672"/>
            <a:ext cx="4724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ja-JP" sz="1500" b="1" dirty="0">
                <a:solidFill>
                  <a:schemeClr val="tx2"/>
                </a:solidFill>
              </a:rPr>
              <a:t>別の AI による独立再抽出 (監査)</a:t>
            </a:r>
            <a:endParaRPr lang="ja-JP" sz="1500" dirty="0"/>
          </a:p>
          <a:p>
            <a:pPr marL="0" indent="0">
              <a:spcAft>
                <a:spcPts val="400"/>
              </a:spcAft>
              <a:buNone/>
            </a:pPr>
            <a:r>
              <a:rPr lang="ja-JP" sz="1300" dirty="0">
                <a:solidFill>
                  <a:schemeClr val="tx1"/>
                </a:solidFill>
              </a:rPr>
              <a:t>原文と薬の名前だけを与えて数値を抽出させ、既存データと突き合わせる</a:t>
            </a:r>
            <a:endParaRPr lang="ja-JP" sz="1500" dirty="0"/>
          </a:p>
        </p:txBody>
      </p:sp>
      <p:sp>
        <p:nvSpPr>
          <p:cNvPr id="22" name="badge"/>
          <p:cNvSpPr/>
          <p:nvPr/>
        </p:nvSpPr>
        <p:spPr>
          <a:xfrm>
            <a:off x="6233008" y="412394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badge-label"/>
          <p:cNvSpPr txBox="1"/>
          <p:nvPr/>
        </p:nvSpPr>
        <p:spPr>
          <a:xfrm>
            <a:off x="6233008" y="4123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sz="1500" b="1" dirty="0">
                <a:solidFill>
                  <a:schemeClr val="bg1"/>
                </a:solidFill>
              </a:rPr>
              <a:t>7</a:t>
            </a:r>
            <a:endParaRPr lang="ja-JP" sz="1500" dirty="0"/>
          </a:p>
        </p:txBody>
      </p:sp>
      <p:sp>
        <p:nvSpPr>
          <p:cNvPr id="24" name="text"/>
          <p:cNvSpPr txBox="1"/>
          <p:nvPr/>
        </p:nvSpPr>
        <p:spPr>
          <a:xfrm>
            <a:off x="6873088" y="4078224"/>
            <a:ext cx="4724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ja-JP" sz="1500" b="1" dirty="0">
                <a:solidFill>
                  <a:schemeClr val="tx2"/>
                </a:solidFill>
              </a:rPr>
              <a:t>「確認済み」は原文で照合できたものだけ</a:t>
            </a:r>
            <a:endParaRPr lang="ja-JP" sz="1500" dirty="0"/>
          </a:p>
          <a:p>
            <a:pPr marL="0" indent="0">
              <a:spcAft>
                <a:spcPts val="400"/>
              </a:spcAft>
              <a:buNone/>
            </a:pPr>
            <a:r>
              <a:rPr lang="ja-JP" sz="1300" dirty="0">
                <a:solidFill>
                  <a:schemeClr val="tx1"/>
                </a:solidFill>
              </a:rPr>
              <a:t>AI が示した根拠を、作者が確認して初めて確定する</a:t>
            </a:r>
            <a:endParaRPr lang="ja-JP" sz="1500" dirty="0"/>
          </a:p>
        </p:txBody>
      </p:sp>
      <p:sp>
        <p:nvSpPr>
          <p:cNvPr id="25" name="card"/>
          <p:cNvSpPr/>
          <p:nvPr/>
        </p:nvSpPr>
        <p:spPr>
          <a:xfrm>
            <a:off x="6233008" y="5074920"/>
            <a:ext cx="5410048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rgbClr val="6E85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"/>
          <p:cNvSpPr txBox="1"/>
          <p:nvPr/>
        </p:nvSpPr>
        <p:spPr>
          <a:xfrm>
            <a:off x="6461608" y="5074920"/>
            <a:ext cx="495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sz="1300" dirty="0">
                <a:solidFill>
                  <a:schemeClr val="tx1"/>
                </a:solidFill>
              </a:rPr>
              <a:t>表や図はずれやすいため、AI には原本の頁をそのまま見せ、表の行・列と項目番号は PDF を画像にして目で確認する</a:t>
            </a:r>
            <a:endParaRPr lang="ja-JP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sz="3000" b="1" dirty="0">
                <a:solidFill>
                  <a:schemeClr val="tx2"/>
                </a:solidFill>
              </a:rPr>
              <a:t>② 作者が承認して反映し、③ 自動の検査を通す</a:t>
            </a:r>
            <a:endParaRPr lang="ja-JP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4846320" cy="41148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rgbClr val="6E85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"/>
          <p:cNvSpPr txBox="1"/>
          <p:nvPr/>
        </p:nvSpPr>
        <p:spPr>
          <a:xfrm>
            <a:off x="822960" y="1600200"/>
            <a:ext cx="42976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ja-JP" sz="1800" b="1" dirty="0">
                <a:solidFill>
                  <a:schemeClr val="tx2"/>
                </a:solidFill>
              </a:rPr>
              <a:t>② 原文で確認し、作者が承認</a:t>
            </a:r>
            <a:endParaRPr lang="ja-JP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ja-JP" sz="1400" dirty="0">
                <a:solidFill>
                  <a:schemeClr val="tx1"/>
                </a:solidFill>
              </a:rPr>
              <a:t>改訂後の原文を取得し、AI が該当箇所を照合。変更前後の差分と根拠を作者に示す</a:t>
            </a:r>
            <a:endParaRPr lang="ja-JP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ja-JP" sz="1400" dirty="0">
                <a:solidFill>
                  <a:schemeClr val="tx1"/>
                </a:solidFill>
              </a:rPr>
              <a:t>作者が確認・承認したものだけを反映する</a:t>
            </a:r>
            <a:endParaRPr lang="ja-JP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ja-JP" sz="1400" dirty="0">
                <a:solidFill>
                  <a:schemeClr val="tx1"/>
                </a:solidFill>
              </a:rPr>
              <a:t>値と一緒に所在 (頁・表番号) と引用または抜粋を記録する</a:t>
            </a:r>
            <a:endParaRPr lang="ja-JP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ja-JP" sz="1400" dirty="0">
                <a:solidFill>
                  <a:schemeClr val="tx1"/>
                </a:solidFill>
              </a:rPr>
              <a:t>ガイドラインは版ごとに記録し、旧版は表示用の値の計算から外す</a:t>
            </a:r>
            <a:endParaRPr lang="ja-JP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ja-JP" sz="1400" dirty="0">
                <a:solidFill>
                  <a:schemeClr val="tx1"/>
                </a:solidFill>
              </a:rPr>
              <a:t>根拠のない日数を、出典の追加だけで「確認済み」に見せない</a:t>
            </a:r>
            <a:endParaRPr lang="ja-JP" sz="1800" dirty="0"/>
          </a:p>
        </p:txBody>
      </p:sp>
      <p:sp>
        <p:nvSpPr>
          <p:cNvPr id="5" name="text"/>
          <p:cNvSpPr txBox="1"/>
          <p:nvPr/>
        </p:nvSpPr>
        <p:spPr>
          <a:xfrm>
            <a:off x="5669280" y="1371600"/>
            <a:ext cx="5973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sz="1800" b="1" dirty="0">
                <a:solidFill>
                  <a:schemeClr val="tx2"/>
                </a:solidFill>
              </a:rPr>
              <a:t>③ 誤りを入れない (変更のたびに自動で検査)</a:t>
            </a:r>
            <a:endParaRPr lang="ja-JP" sz="1800" dirty="0"/>
          </a:p>
        </p:txBody>
      </p:sp>
      <p:graphicFrame>
        <p:nvGraphicFramePr>
          <p:cNvPr id="1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874520"/>
          <a:ext cx="5973775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9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300" b="1" dirty="0">
                          <a:solidFill>
                            <a:schemeClr val="tx2"/>
                          </a:solidFill>
                        </a:rPr>
                        <a:t>検査</a:t>
                      </a:r>
                      <a:endParaRPr lang="ja-JP" sz="13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300" b="1" dirty="0">
                          <a:solidFill>
                            <a:schemeClr val="tx2"/>
                          </a:solidFill>
                        </a:rPr>
                        <a:t>内容</a:t>
                      </a:r>
                      <a:endParaRPr lang="ja-JP" sz="13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300" dirty="0">
                          <a:solidFill>
                            <a:schemeClr val="tx1"/>
                          </a:solidFill>
                        </a:rPr>
                        <a:t>引用の実在検査</a:t>
                      </a:r>
                      <a:endParaRPr lang="ja-JP" sz="13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300" dirty="0">
                          <a:solidFill>
                            <a:schemeClr val="tx1"/>
                          </a:solidFill>
                        </a:rPr>
                        <a:t>記録した引用が、一次資料の本文に実際に存在するか</a:t>
                      </a:r>
                      <a:endParaRPr lang="ja-JP" sz="13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300" dirty="0">
                          <a:solidFill>
                            <a:schemeClr val="tx1"/>
                          </a:solidFill>
                        </a:rPr>
                        <a:t>数値の逆照合</a:t>
                      </a:r>
                      <a:endParaRPr lang="ja-JP" sz="13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300" dirty="0">
                          <a:solidFill>
                            <a:schemeClr val="tx1"/>
                          </a:solidFill>
                        </a:rPr>
                        <a:t>日数が、原文中でその薬の名前と一緒に現れるか</a:t>
                      </a:r>
                      <a:endParaRPr lang="ja-JP" sz="13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300" dirty="0">
                          <a:solidFill>
                            <a:schemeClr val="tx1"/>
                          </a:solidFill>
                        </a:rPr>
                        <a:t>値の回帰検知</a:t>
                      </a:r>
                      <a:endParaRPr lang="ja-JP" sz="13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300" dirty="0">
                          <a:solidFill>
                            <a:schemeClr val="tx1"/>
                          </a:solidFill>
                        </a:rPr>
                        <a:t>全薬剤・全ガイドラインの値を基準と突き合わせ、意図しない変化と別名の衝突を検出</a:t>
                      </a:r>
                      <a:endParaRPr lang="ja-JP" sz="13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300" dirty="0">
                          <a:solidFill>
                            <a:schemeClr val="tx1"/>
                          </a:solidFill>
                        </a:rPr>
                        <a:t>添付文書の抽出崩れ検知</a:t>
                      </a:r>
                      <a:endParaRPr lang="ja-JP" sz="13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300" dirty="0">
                          <a:solidFill>
                            <a:schemeClr val="tx1"/>
                          </a:solidFill>
                        </a:rPr>
                        <a:t>2 段組 PDF の読み取りで起きる文字の混線がないか</a:t>
                      </a:r>
                      <a:endParaRPr lang="ja-JP" sz="13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300" dirty="0">
                          <a:solidFill>
                            <a:schemeClr val="tx1"/>
                          </a:solidFill>
                        </a:rPr>
                        <a:t>公開データの検査</a:t>
                      </a:r>
                      <a:endParaRPr lang="ja-JP" sz="13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300" dirty="0">
                          <a:solidFill>
                            <a:schemeClr val="tx1"/>
                          </a:solidFill>
                        </a:rPr>
                        <a:t>内部用の項目の混入、引用の上限、正本との一致</a:t>
                      </a:r>
                      <a:endParaRPr lang="ja-JP" sz="13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300" dirty="0">
                          <a:solidFill>
                            <a:schemeClr val="tx1"/>
                          </a:solidFill>
                        </a:rPr>
                        <a:t>画面の自動テスト</a:t>
                      </a:r>
                      <a:endParaRPr lang="ja-JP" sz="13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sz="1300" dirty="0">
                          <a:solidFill>
                            <a:schemeClr val="tx1"/>
                          </a:solidFill>
                        </a:rPr>
                        <a:t>データの変更で参照アプリが壊れていないか</a:t>
                      </a:r>
                      <a:endParaRPr lang="ja-JP" sz="1300" dirty="0"/>
                    </a:p>
                  </a:txBody>
                  <a:tcPr marT="54864" marB="54864" anchor="ctr">
                    <a:lnL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"/>
          <p:cNvSpPr txBox="1"/>
          <p:nvPr/>
        </p:nvSpPr>
        <p:spPr>
          <a:xfrm>
            <a:off x="5669280" y="5120640"/>
            <a:ext cx="5973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sz="1400" b="1" dirty="0">
                <a:solidFill>
                  <a:schemeClr val="accent2"/>
                </a:solidFill>
              </a:rPr>
              <a:t>一つでも不合格なら反映しない</a:t>
            </a:r>
            <a:endParaRPr lang="ja-JP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sz="3000" b="1" dirty="0">
                <a:solidFill>
                  <a:schemeClr val="tx2"/>
                </a:solidFill>
              </a:rPr>
              <a:t>参照アプリ: ブラウザでそのまま使える</a:t>
            </a:r>
            <a:endParaRPr lang="ja-JP" sz="3000" dirty="0"/>
          </a:p>
        </p:txBody>
      </p:sp>
      <p:sp>
        <p:nvSpPr>
          <p:cNvPr id="3" name="text"/>
          <p:cNvSpPr txBox="1"/>
          <p:nvPr/>
        </p:nvSpPr>
        <p:spPr>
          <a:xfrm>
            <a:off x="548640" y="1371600"/>
            <a:ext cx="4114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ja-JP" sz="1800" b="1" dirty="0">
                <a:solidFill>
                  <a:schemeClr val="tx2"/>
                </a:solidFill>
              </a:rPr>
              <a:t>主な機能</a:t>
            </a:r>
            <a:endParaRPr lang="ja-JP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ja-JP" sz="1400" dirty="0">
                <a:solidFill>
                  <a:schemeClr val="tx1"/>
                </a:solidFill>
              </a:rPr>
              <a:t>一般名・商品名・後発品名のどれでも、一部だけでも、ひらがなでも検索できる</a:t>
            </a:r>
            <a:endParaRPr lang="ja-JP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ja-JP" sz="1400" dirty="0">
                <a:solidFill>
                  <a:schemeClr val="tx1"/>
                </a:solidFill>
              </a:rPr>
              <a:t>打ち間違いや表記ゆれ (「アスピリソ」) も吸収し、該当がなければ「もしかして」の候補を出す</a:t>
            </a:r>
            <a:endParaRPr lang="ja-JP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ja-JP" sz="1400" dirty="0">
                <a:solidFill>
                  <a:schemeClr val="tx1"/>
                </a:solidFill>
              </a:rPr>
              <a:t>薬効分類のボタンで絞り込める</a:t>
            </a:r>
            <a:endParaRPr lang="ja-JP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ja-JP" sz="1400" dirty="0">
                <a:solidFill>
                  <a:schemeClr val="tx1"/>
                </a:solidFill>
              </a:rPr>
              <a:t>安全側の休薬日数、ガイドライン別の値と出どころ、根拠の引用、出典のリンクを表示</a:t>
            </a:r>
            <a:endParaRPr lang="ja-JP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ja-JP" sz="1400" dirty="0">
                <a:solidFill>
                  <a:schemeClr val="tx1"/>
                </a:solidFill>
              </a:rPr>
              <a:t>内容とリンクをコピーできる。スマートフォンにも対応</a:t>
            </a:r>
            <a:endParaRPr lang="ja-JP" sz="1800" dirty="0"/>
          </a:p>
        </p:txBody>
      </p:sp>
      <p:pic>
        <p:nvPicPr>
          <p:cNvPr id="4" name="screenshot" descr="アピキサバンの詳細画面。出血リスク高 3 日、低 1 日と、ガイドライン別の表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417320"/>
            <a:ext cx="4526280" cy="4073652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5" name="screenshot-frame"/>
          <p:cNvSpPr/>
          <p:nvPr/>
        </p:nvSpPr>
        <p:spPr>
          <a:xfrm>
            <a:off x="4983480" y="1417320"/>
            <a:ext cx="4526280" cy="4073652"/>
          </a:xfrm>
          <a:prstGeom prst="rect">
            <a:avLst/>
          </a:prstGeom>
          <a:ln w="12700">
            <a:solidFill>
              <a:srgbClr val="6E85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" name="screenshot" descr="スマートフォンでの詳細画面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0" y="1417320"/>
            <a:ext cx="1950415" cy="3800809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7" name="screenshot-frame"/>
          <p:cNvSpPr/>
          <p:nvPr/>
        </p:nvSpPr>
        <p:spPr>
          <a:xfrm>
            <a:off x="9692640" y="1417320"/>
            <a:ext cx="1950415" cy="3800809"/>
          </a:xfrm>
          <a:prstGeom prst="rect">
            <a:avLst/>
          </a:prstGeom>
          <a:ln w="12700">
            <a:solidFill>
              <a:srgbClr val="6E85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sz="3000" b="1" dirty="0">
                <a:solidFill>
                  <a:schemeClr val="tx2"/>
                </a:solidFill>
              </a:rPr>
              <a:t>公開の形: 参照アプリ・API・全件データ</a:t>
            </a:r>
            <a:endParaRPr lang="ja-JP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2567864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rgbClr val="6E85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"/>
          <p:cNvSpPr txBox="1"/>
          <p:nvPr/>
        </p:nvSpPr>
        <p:spPr>
          <a:xfrm>
            <a:off x="777240" y="1554480"/>
            <a:ext cx="2110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ja-JP" sz="1800" b="1" dirty="0">
                <a:solidFill>
                  <a:schemeClr val="tx2"/>
                </a:solidFill>
              </a:rPr>
              <a:t>参照アプリ</a:t>
            </a:r>
            <a:endParaRPr lang="ja-JP" sz="1800" dirty="0"/>
          </a:p>
          <a:p>
            <a:pPr marL="0" indent="0">
              <a:spcAft>
                <a:spcPts val="400"/>
              </a:spcAft>
              <a:buNone/>
            </a:pPr>
            <a:r>
              <a:rPr lang="ja-JP" sz="1200" dirty="0">
                <a:solidFill>
                  <a:schemeClr val="tx1"/>
                </a:solidFill>
              </a:rPr>
              <a:t>numero-uno-jpn.github.io/kyuyaku-data/</a:t>
            </a:r>
            <a:endParaRPr lang="ja-JP" sz="1800" dirty="0"/>
          </a:p>
        </p:txBody>
      </p:sp>
      <p:sp>
        <p:nvSpPr>
          <p:cNvPr id="5" name="card"/>
          <p:cNvSpPr/>
          <p:nvPr/>
        </p:nvSpPr>
        <p:spPr>
          <a:xfrm>
            <a:off x="3390824" y="1371600"/>
            <a:ext cx="2567864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rgbClr val="6E85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"/>
          <p:cNvSpPr txBox="1"/>
          <p:nvPr/>
        </p:nvSpPr>
        <p:spPr>
          <a:xfrm>
            <a:off x="3619424" y="1554480"/>
            <a:ext cx="2110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ja-JP" sz="1800" b="1" dirty="0">
                <a:solidFill>
                  <a:schemeClr val="tx2"/>
                </a:solidFill>
              </a:rPr>
              <a:t>静的 API</a:t>
            </a:r>
            <a:endParaRPr lang="ja-JP" sz="1800" dirty="0"/>
          </a:p>
          <a:p>
            <a:pPr marL="0" indent="0">
              <a:spcAft>
                <a:spcPts val="400"/>
              </a:spcAft>
              <a:buNone/>
            </a:pPr>
            <a:r>
              <a:rPr lang="ja-JP" sz="1200" dirty="0">
                <a:solidFill>
                  <a:schemeClr val="tx1"/>
                </a:solidFill>
              </a:rPr>
              <a:t>…/kyuyaku-data/v1/ (meta・drugs・lookup など)</a:t>
            </a:r>
            <a:endParaRPr lang="ja-JP" sz="1800" dirty="0"/>
          </a:p>
        </p:txBody>
      </p:sp>
      <p:sp>
        <p:nvSpPr>
          <p:cNvPr id="7" name="card"/>
          <p:cNvSpPr/>
          <p:nvPr/>
        </p:nvSpPr>
        <p:spPr>
          <a:xfrm>
            <a:off x="6233008" y="1371600"/>
            <a:ext cx="2567864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rgbClr val="6E85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"/>
          <p:cNvSpPr txBox="1"/>
          <p:nvPr/>
        </p:nvSpPr>
        <p:spPr>
          <a:xfrm>
            <a:off x="6461608" y="1554480"/>
            <a:ext cx="2110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ja-JP" sz="1800" b="1" dirty="0">
                <a:solidFill>
                  <a:schemeClr val="tx2"/>
                </a:solidFill>
              </a:rPr>
              <a:t>検索 API</a:t>
            </a:r>
            <a:endParaRPr lang="ja-JP" sz="1800" dirty="0"/>
          </a:p>
          <a:p>
            <a:pPr marL="0" indent="0">
              <a:spcAft>
                <a:spcPts val="400"/>
              </a:spcAft>
              <a:buNone/>
            </a:pPr>
            <a:r>
              <a:rPr lang="ja-JP" sz="1200" dirty="0">
                <a:solidFill>
                  <a:schemeClr val="tx1"/>
                </a:solidFill>
              </a:rPr>
              <a:t>kyuyaku-data.numero-uno-jpn.workers.dev/v1/search?q=</a:t>
            </a:r>
            <a:endParaRPr lang="ja-JP" sz="1800" dirty="0"/>
          </a:p>
        </p:txBody>
      </p:sp>
      <p:sp>
        <p:nvSpPr>
          <p:cNvPr id="9" name="card"/>
          <p:cNvSpPr/>
          <p:nvPr/>
        </p:nvSpPr>
        <p:spPr>
          <a:xfrm>
            <a:off x="9075191" y="1371600"/>
            <a:ext cx="2567864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rgbClr val="6E85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"/>
          <p:cNvSpPr txBox="1"/>
          <p:nvPr/>
        </p:nvSpPr>
        <p:spPr>
          <a:xfrm>
            <a:off x="9303791" y="1554480"/>
            <a:ext cx="2110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ja-JP" sz="1800" b="1" dirty="0">
                <a:solidFill>
                  <a:schemeClr val="tx2"/>
                </a:solidFill>
              </a:rPr>
              <a:t>全件データ</a:t>
            </a:r>
            <a:endParaRPr lang="ja-JP" sz="1800" dirty="0"/>
          </a:p>
          <a:p>
            <a:pPr marL="0" indent="0">
              <a:spcAft>
                <a:spcPts val="400"/>
              </a:spcAft>
              <a:buNone/>
            </a:pPr>
            <a:r>
              <a:rPr lang="ja-JP" sz="1200" dirty="0">
                <a:solidFill>
                  <a:schemeClr val="tx1"/>
                </a:solidFill>
              </a:rPr>
              <a:t>data/washout_public_v1.json (1 ファイル)</a:t>
            </a:r>
            <a:endParaRPr lang="ja-JP" sz="1800" dirty="0"/>
          </a:p>
        </p:txBody>
      </p:sp>
      <p:sp>
        <p:nvSpPr>
          <p:cNvPr id="11" name="text"/>
          <p:cNvSpPr txBox="1"/>
          <p:nvPr/>
        </p:nvSpPr>
        <p:spPr>
          <a:xfrm>
            <a:off x="548640" y="31546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sz="1300" dirty="0">
                <a:solidFill>
                  <a:schemeClr val="accent5"/>
                </a:solidFill>
              </a:rPr>
              <a:t>認証・利用登録は不要。どのサイトからも呼び出せる (CORS 全開放)</a:t>
            </a:r>
            <a:endParaRPr lang="ja-JP" sz="1300" dirty="0"/>
          </a:p>
        </p:txBody>
      </p:sp>
      <p:sp>
        <p:nvSpPr>
          <p:cNvPr id="12" name="card"/>
          <p:cNvSpPr/>
          <p:nvPr/>
        </p:nvSpPr>
        <p:spPr>
          <a:xfrm>
            <a:off x="548640" y="3657600"/>
            <a:ext cx="6675120" cy="2377440"/>
          </a:xfrm>
          <a:prstGeom prst="roundRect">
            <a:avLst>
              <a:gd name="adj" fmla="val 4615"/>
            </a:avLst>
          </a:prstGeom>
          <a:solidFill>
            <a:schemeClr val="accent4"/>
          </a:solidFill>
          <a:ln w="12700">
            <a:solidFill>
              <a:srgbClr val="6E85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"/>
          <p:cNvSpPr txBox="1"/>
          <p:nvPr/>
        </p:nvSpPr>
        <p:spPr>
          <a:xfrm>
            <a:off x="822960" y="3840480"/>
            <a:ext cx="6126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ja-JP" sz="1800" b="1" dirty="0">
                <a:solidFill>
                  <a:schemeClr val="tx2"/>
                </a:solidFill>
              </a:rPr>
              <a:t>ライセンス: CC BY 4.0</a:t>
            </a:r>
            <a:endParaRPr lang="ja-JP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ja-JP" sz="1300" dirty="0">
                <a:solidFill>
                  <a:schemeClr val="tx1"/>
                </a:solidFill>
              </a:rPr>
              <a:t>帰属表示をすれば、商用を含め自由に利用・改変・再配布できる</a:t>
            </a:r>
            <a:endParaRPr lang="ja-JP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ja-JP" sz="1300" dirty="0">
                <a:solidFill>
                  <a:schemeClr val="tx1"/>
                </a:solidFill>
              </a:rPr>
              <a:t>帰属表示: 梅谷 直亨, 休薬情報データベース (Kyuyaku Data), https://github.com/numero-uno-jpn/kyuyaku-data</a:t>
            </a:r>
            <a:endParaRPr lang="ja-JP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ja-JP" sz="1300" dirty="0">
                <a:solidFill>
                  <a:schemeClr val="tx1"/>
                </a:solidFill>
              </a:rPr>
              <a:t>引用または抜粋の欄は各出典の著作物のため対象外 (著作権法 32 条に基づく引用)</a:t>
            </a:r>
            <a:endParaRPr lang="ja-JP" sz="1800" dirty="0"/>
          </a:p>
        </p:txBody>
      </p:sp>
      <p:sp>
        <p:nvSpPr>
          <p:cNvPr id="14" name="card"/>
          <p:cNvSpPr/>
          <p:nvPr/>
        </p:nvSpPr>
        <p:spPr>
          <a:xfrm>
            <a:off x="7498080" y="3657600"/>
            <a:ext cx="4144975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rgbClr val="6E85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"/>
          <p:cNvSpPr txBox="1"/>
          <p:nvPr/>
        </p:nvSpPr>
        <p:spPr>
          <a:xfrm>
            <a:off x="7772400" y="3840480"/>
            <a:ext cx="359633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ja-JP" sz="1800" b="1" dirty="0">
                <a:solidFill>
                  <a:schemeClr val="tx2"/>
                </a:solidFill>
              </a:rPr>
              <a:t>非公開にしている部分</a:t>
            </a:r>
            <a:endParaRPr lang="ja-JP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ja-JP" sz="1300" dirty="0">
                <a:solidFill>
                  <a:schemeClr val="tx1"/>
                </a:solidFill>
              </a:rPr>
              <a:t>AI を使ってデータを作る部分 (読み取り・照合・判定のプログラムと指示文、監視の設定)</a:t>
            </a:r>
            <a:endParaRPr lang="ja-JP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ja-JP" sz="1300" dirty="0">
                <a:solidFill>
                  <a:schemeClr val="tx1"/>
                </a:solidFill>
              </a:rPr>
              <a:t>理由: AI サービスの課金を伴う契約情報と運用の設定を含むため</a:t>
            </a:r>
            <a:endParaRPr lang="ja-JP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ja-JP" sz="1300" dirty="0">
                <a:solidFill>
                  <a:schemeClr val="tx1"/>
                </a:solidFill>
              </a:rPr>
              <a:t>一次資料の PDF (各学会・製薬企業の著作物)</a:t>
            </a:r>
            <a:endParaRPr lang="ja-JP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sz="3000" b="1" dirty="0">
                <a:solidFill>
                  <a:schemeClr val="tx2"/>
                </a:solidFill>
              </a:rPr>
              <a:t>限界と利用上の注意</a:t>
            </a:r>
            <a:endParaRPr lang="ja-JP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5410048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rgbClr val="6E85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"/>
          <p:cNvSpPr txBox="1"/>
          <p:nvPr/>
        </p:nvSpPr>
        <p:spPr>
          <a:xfrm>
            <a:off x="822960" y="1572768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ja-JP" sz="1700" b="1" dirty="0">
                <a:solidFill>
                  <a:schemeClr val="tx2"/>
                </a:solidFill>
              </a:rPr>
              <a:t>一般的な目安である</a:t>
            </a:r>
            <a:endParaRPr lang="ja-JP" sz="1700" dirty="0"/>
          </a:p>
          <a:p>
            <a:pPr marL="0" indent="0">
              <a:spcAft>
                <a:spcPts val="400"/>
              </a:spcAft>
              <a:buNone/>
            </a:pPr>
            <a:r>
              <a:rPr lang="ja-JP" sz="1400" dirty="0">
                <a:solidFill>
                  <a:schemeClr val="tx1"/>
                </a:solidFill>
              </a:rPr>
              <a:t>腎機能、血栓リスク、ステント留置後の期間、用量など、個々の患者に応じた判断が必要</a:t>
            </a:r>
            <a:endParaRPr lang="ja-JP" sz="1700" dirty="0"/>
          </a:p>
        </p:txBody>
      </p:sp>
      <p:sp>
        <p:nvSpPr>
          <p:cNvPr id="5" name="card"/>
          <p:cNvSpPr/>
          <p:nvPr/>
        </p:nvSpPr>
        <p:spPr>
          <a:xfrm>
            <a:off x="6233008" y="1371600"/>
            <a:ext cx="5410048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rgbClr val="6E85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"/>
          <p:cNvSpPr txBox="1"/>
          <p:nvPr/>
        </p:nvSpPr>
        <p:spPr>
          <a:xfrm>
            <a:off x="6507328" y="1572768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ja-JP" sz="1700" b="1" dirty="0">
                <a:solidFill>
                  <a:schemeClr val="tx2"/>
                </a:solidFill>
              </a:rPr>
              <a:t>出血リスクの分類はガイドラインごとに違う</a:t>
            </a:r>
            <a:endParaRPr lang="ja-JP" sz="1700" dirty="0"/>
          </a:p>
          <a:p>
            <a:pPr marL="0" indent="0">
              <a:spcAft>
                <a:spcPts val="400"/>
              </a:spcAft>
              <a:buNone/>
            </a:pPr>
            <a:r>
              <a:rPr lang="ja-JP" sz="1400" dirty="0">
                <a:solidFill>
                  <a:schemeClr val="tx1"/>
                </a:solidFill>
              </a:rPr>
              <a:t>表示用の値はそれらの最長値 (安全側)</a:t>
            </a:r>
            <a:endParaRPr lang="ja-JP" sz="1700" dirty="0"/>
          </a:p>
        </p:txBody>
      </p:sp>
      <p:sp>
        <p:nvSpPr>
          <p:cNvPr id="7" name="card"/>
          <p:cNvSpPr/>
          <p:nvPr/>
        </p:nvSpPr>
        <p:spPr>
          <a:xfrm>
            <a:off x="548640" y="2926080"/>
            <a:ext cx="5410048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rgbClr val="6E85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"/>
          <p:cNvSpPr txBox="1"/>
          <p:nvPr/>
        </p:nvSpPr>
        <p:spPr>
          <a:xfrm>
            <a:off x="822960" y="3127248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ja-JP" sz="1700" b="1" dirty="0">
                <a:solidFill>
                  <a:schemeClr val="tx2"/>
                </a:solidFill>
              </a:rPr>
              <a:t>休薬しないことが推奨される場合がある</a:t>
            </a:r>
            <a:endParaRPr lang="ja-JP" sz="1700" dirty="0"/>
          </a:p>
          <a:p>
            <a:pPr marL="0" indent="0">
              <a:spcAft>
                <a:spcPts val="400"/>
              </a:spcAft>
              <a:buNone/>
            </a:pPr>
            <a:r>
              <a:rPr lang="ja-JP" sz="1400" dirty="0">
                <a:solidFill>
                  <a:schemeClr val="tx1"/>
                </a:solidFill>
              </a:rPr>
              <a:t>例: 冠動脈ステント留置後のアスピリン継続。日数だけで判断しない</a:t>
            </a:r>
            <a:endParaRPr lang="ja-JP" sz="1700" dirty="0"/>
          </a:p>
        </p:txBody>
      </p:sp>
      <p:sp>
        <p:nvSpPr>
          <p:cNvPr id="9" name="card"/>
          <p:cNvSpPr/>
          <p:nvPr/>
        </p:nvSpPr>
        <p:spPr>
          <a:xfrm>
            <a:off x="6233008" y="2926080"/>
            <a:ext cx="5410048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rgbClr val="6E85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"/>
          <p:cNvSpPr txBox="1"/>
          <p:nvPr/>
        </p:nvSpPr>
        <p:spPr>
          <a:xfrm>
            <a:off x="6507328" y="3127248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ja-JP" sz="1700" b="1" dirty="0">
                <a:solidFill>
                  <a:schemeClr val="tx2"/>
                </a:solidFill>
              </a:rPr>
              <a:t>更新の遅れがありうる</a:t>
            </a:r>
            <a:endParaRPr lang="ja-JP" sz="1700" dirty="0"/>
          </a:p>
          <a:p>
            <a:pPr marL="0" indent="0">
              <a:spcAft>
                <a:spcPts val="400"/>
              </a:spcAft>
              <a:buNone/>
            </a:pPr>
            <a:r>
              <a:rPr lang="ja-JP" sz="1400" dirty="0">
                <a:solidFill>
                  <a:schemeClr val="tx1"/>
                </a:solidFill>
              </a:rPr>
              <a:t>改訂から反映まで 最大 3 か月程度かかることがある。データの版と更新日は meta.json で確認できる</a:t>
            </a:r>
            <a:endParaRPr lang="ja-JP" sz="1700" dirty="0"/>
          </a:p>
        </p:txBody>
      </p:sp>
      <p:sp>
        <p:nvSpPr>
          <p:cNvPr id="11" name="card"/>
          <p:cNvSpPr/>
          <p:nvPr/>
        </p:nvSpPr>
        <p:spPr>
          <a:xfrm>
            <a:off x="548640" y="4480560"/>
            <a:ext cx="5410048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rgbClr val="6E85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"/>
          <p:cNvSpPr txBox="1"/>
          <p:nvPr/>
        </p:nvSpPr>
        <p:spPr>
          <a:xfrm>
            <a:off x="822960" y="4681728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ja-JP" sz="1700" b="1" dirty="0">
                <a:solidFill>
                  <a:schemeClr val="tx2"/>
                </a:solidFill>
              </a:rPr>
              <a:t>日数が明記されていない値を含む</a:t>
            </a:r>
            <a:endParaRPr lang="ja-JP" sz="1700" dirty="0"/>
          </a:p>
          <a:p>
            <a:pPr marL="0" indent="0">
              <a:spcAft>
                <a:spcPts val="400"/>
              </a:spcAft>
              <a:buNone/>
            </a:pPr>
            <a:r>
              <a:rPr lang="ja-JP" sz="1400" dirty="0">
                <a:solidFill>
                  <a:schemeClr val="tx1"/>
                </a:solidFill>
              </a:rPr>
              <a:t>クラスの当てはめ・計算値・未分類の値、原文と未照合の出典が残る</a:t>
            </a:r>
            <a:endParaRPr lang="ja-JP" sz="1700" dirty="0"/>
          </a:p>
        </p:txBody>
      </p:sp>
      <p:sp>
        <p:nvSpPr>
          <p:cNvPr id="13" name="card"/>
          <p:cNvSpPr/>
          <p:nvPr/>
        </p:nvSpPr>
        <p:spPr>
          <a:xfrm>
            <a:off x="6233008" y="4480560"/>
            <a:ext cx="5410048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rgbClr val="6E85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"/>
          <p:cNvSpPr txBox="1"/>
          <p:nvPr/>
        </p:nvSpPr>
        <p:spPr>
          <a:xfrm>
            <a:off x="6507328" y="4681728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ja-JP" sz="1700" b="1" dirty="0">
                <a:solidFill>
                  <a:schemeClr val="tx2"/>
                </a:solidFill>
              </a:rPr>
              <a:t>対象外の情報がある</a:t>
            </a:r>
            <a:endParaRPr lang="ja-JP" sz="1700" dirty="0"/>
          </a:p>
          <a:p>
            <a:pPr marL="0" indent="0">
              <a:spcAft>
                <a:spcPts val="400"/>
              </a:spcAft>
              <a:buNone/>
            </a:pPr>
            <a:r>
              <a:rPr lang="ja-JP" sz="1400" dirty="0">
                <a:solidFill>
                  <a:schemeClr val="tx1"/>
                </a:solidFill>
              </a:rPr>
              <a:t>薬物相互作用、術後の再開時期の網羅、小児の用量別。医療機器 (プログラム医療機器) ではない</a:t>
            </a:r>
            <a:endParaRPr lang="ja-JP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sz="3000" b="1" dirty="0">
                <a:solidFill>
                  <a:schemeClr val="tx2"/>
                </a:solidFill>
              </a:rPr>
              <a:t>今後</a:t>
            </a:r>
            <a:endParaRPr lang="ja-JP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463040"/>
            <a:ext cx="5410048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rgbClr val="6E85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badge"/>
          <p:cNvSpPr/>
          <p:nvPr/>
        </p:nvSpPr>
        <p:spPr>
          <a:xfrm>
            <a:off x="822960" y="1783080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badge-label"/>
          <p:cNvSpPr txBox="1"/>
          <p:nvPr/>
        </p:nvSpPr>
        <p:spPr>
          <a:xfrm>
            <a:off x="822960" y="1783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sz="2000" b="1" dirty="0">
                <a:solidFill>
                  <a:schemeClr val="bg1"/>
                </a:solidFill>
              </a:rPr>
              <a:t>1</a:t>
            </a:r>
            <a:endParaRPr lang="ja-JP" sz="2000" dirty="0"/>
          </a:p>
        </p:txBody>
      </p:sp>
      <p:sp>
        <p:nvSpPr>
          <p:cNvPr id="6" name="text"/>
          <p:cNvSpPr txBox="1"/>
          <p:nvPr/>
        </p:nvSpPr>
        <p:spPr>
          <a:xfrm>
            <a:off x="1737360" y="1810512"/>
            <a:ext cx="394700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ja-JP" sz="2000" b="1" dirty="0">
                <a:solidFill>
                  <a:schemeClr val="tx2"/>
                </a:solidFill>
              </a:rPr>
              <a:t>新規承認薬の追加</a:t>
            </a:r>
            <a:endParaRPr lang="ja-JP" sz="2000" dirty="0"/>
          </a:p>
          <a:p>
            <a:pPr marL="0" indent="0">
              <a:spcAft>
                <a:spcPts val="400"/>
              </a:spcAft>
              <a:buNone/>
            </a:pPr>
            <a:r>
              <a:rPr lang="ja-JP" sz="1600" dirty="0">
                <a:solidFill>
                  <a:schemeClr val="tx1"/>
                </a:solidFill>
              </a:rPr>
              <a:t>PMDA の承認情報の通知をきっかけに、周術期の休薬に関わる薬を順次検討して収載する</a:t>
            </a:r>
            <a:endParaRPr lang="ja-JP" sz="2000" dirty="0"/>
          </a:p>
        </p:txBody>
      </p:sp>
      <p:sp>
        <p:nvSpPr>
          <p:cNvPr id="7" name="card"/>
          <p:cNvSpPr/>
          <p:nvPr/>
        </p:nvSpPr>
        <p:spPr>
          <a:xfrm>
            <a:off x="6233008" y="1463040"/>
            <a:ext cx="5410048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rgbClr val="6E85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badge"/>
          <p:cNvSpPr/>
          <p:nvPr/>
        </p:nvSpPr>
        <p:spPr>
          <a:xfrm>
            <a:off x="6507328" y="1783080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badge-label"/>
          <p:cNvSpPr txBox="1"/>
          <p:nvPr/>
        </p:nvSpPr>
        <p:spPr>
          <a:xfrm>
            <a:off x="6507328" y="1783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sz="2000" b="1" dirty="0">
                <a:solidFill>
                  <a:schemeClr val="bg1"/>
                </a:solidFill>
              </a:rPr>
              <a:t>2</a:t>
            </a:r>
            <a:endParaRPr lang="ja-JP" sz="2000" dirty="0"/>
          </a:p>
        </p:txBody>
      </p:sp>
      <p:sp>
        <p:nvSpPr>
          <p:cNvPr id="10" name="text"/>
          <p:cNvSpPr txBox="1"/>
          <p:nvPr/>
        </p:nvSpPr>
        <p:spPr>
          <a:xfrm>
            <a:off x="7421728" y="1810512"/>
            <a:ext cx="394700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ja-JP" sz="2000" b="1" dirty="0">
                <a:solidFill>
                  <a:schemeClr val="tx2"/>
                </a:solidFill>
              </a:rPr>
              <a:t>利用者からの報告の反映</a:t>
            </a:r>
            <a:endParaRPr lang="ja-JP" sz="2000" dirty="0"/>
          </a:p>
          <a:p>
            <a:pPr marL="0" indent="0">
              <a:spcAft>
                <a:spcPts val="400"/>
              </a:spcAft>
              <a:buNone/>
            </a:pPr>
            <a:r>
              <a:rPr lang="ja-JP" sz="1600" dirty="0">
                <a:solidFill>
                  <a:schemeClr val="tx1"/>
                </a:solidFill>
              </a:rPr>
              <a:t>誤りの報告は原文で確認し、作者が承認したうえで反映する</a:t>
            </a:r>
            <a:endParaRPr lang="ja-JP" sz="2000" dirty="0"/>
          </a:p>
        </p:txBody>
      </p:sp>
      <p:sp>
        <p:nvSpPr>
          <p:cNvPr id="11" name="card"/>
          <p:cNvSpPr/>
          <p:nvPr/>
        </p:nvSpPr>
        <p:spPr>
          <a:xfrm>
            <a:off x="548640" y="3703320"/>
            <a:ext cx="5410048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rgbClr val="6E85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badge"/>
          <p:cNvSpPr/>
          <p:nvPr/>
        </p:nvSpPr>
        <p:spPr>
          <a:xfrm>
            <a:off x="822960" y="4023360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badge-label"/>
          <p:cNvSpPr txBox="1"/>
          <p:nvPr/>
        </p:nvSpPr>
        <p:spPr>
          <a:xfrm>
            <a:off x="822960" y="40233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sz="2000" b="1" dirty="0">
                <a:solidFill>
                  <a:schemeClr val="bg1"/>
                </a:solidFill>
              </a:rPr>
              <a:t>3</a:t>
            </a:r>
            <a:endParaRPr lang="ja-JP" sz="2000" dirty="0"/>
          </a:p>
        </p:txBody>
      </p:sp>
      <p:sp>
        <p:nvSpPr>
          <p:cNvPr id="14" name="text"/>
          <p:cNvSpPr txBox="1"/>
          <p:nvPr/>
        </p:nvSpPr>
        <p:spPr>
          <a:xfrm>
            <a:off x="1737360" y="4050792"/>
            <a:ext cx="394700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ja-JP" sz="2000" b="1" dirty="0">
                <a:solidFill>
                  <a:schemeClr val="tx2"/>
                </a:solidFill>
              </a:rPr>
              <a:t>版を固定したリリース</a:t>
            </a:r>
            <a:endParaRPr lang="ja-JP" sz="2000" dirty="0"/>
          </a:p>
          <a:p>
            <a:pPr marL="0" indent="0">
              <a:spcAft>
                <a:spcPts val="400"/>
              </a:spcAft>
              <a:buNone/>
            </a:pPr>
            <a:r>
              <a:rPr lang="ja-JP" sz="1600" dirty="0">
                <a:solidFill>
                  <a:schemeClr val="tx1"/>
                </a:solidFill>
              </a:rPr>
              <a:t>学会発表などの節目に版を固定し、引用できる形で残す</a:t>
            </a:r>
            <a:endParaRPr lang="ja-JP" sz="2000" dirty="0"/>
          </a:p>
        </p:txBody>
      </p:sp>
      <p:sp>
        <p:nvSpPr>
          <p:cNvPr id="15" name="card"/>
          <p:cNvSpPr/>
          <p:nvPr/>
        </p:nvSpPr>
        <p:spPr>
          <a:xfrm>
            <a:off x="6233008" y="3703320"/>
            <a:ext cx="5410048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rgbClr val="6E85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badge"/>
          <p:cNvSpPr/>
          <p:nvPr/>
        </p:nvSpPr>
        <p:spPr>
          <a:xfrm>
            <a:off x="6507328" y="4023360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badge-label"/>
          <p:cNvSpPr txBox="1"/>
          <p:nvPr/>
        </p:nvSpPr>
        <p:spPr>
          <a:xfrm>
            <a:off x="6507328" y="40233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sz="2000" b="1" dirty="0">
                <a:solidFill>
                  <a:schemeClr val="bg1"/>
                </a:solidFill>
              </a:rPr>
              <a:t>4</a:t>
            </a:r>
            <a:endParaRPr lang="ja-JP" sz="2000" dirty="0"/>
          </a:p>
        </p:txBody>
      </p:sp>
      <p:sp>
        <p:nvSpPr>
          <p:cNvPr id="18" name="text"/>
          <p:cNvSpPr txBox="1"/>
          <p:nvPr/>
        </p:nvSpPr>
        <p:spPr>
          <a:xfrm>
            <a:off x="7421728" y="4050792"/>
            <a:ext cx="394700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ja-JP" sz="2000" b="1" dirty="0">
                <a:solidFill>
                  <a:schemeClr val="tx2"/>
                </a:solidFill>
              </a:rPr>
              <a:t>利用の広がりの把握</a:t>
            </a:r>
            <a:endParaRPr lang="ja-JP" sz="2000" dirty="0"/>
          </a:p>
          <a:p>
            <a:pPr marL="0" indent="0">
              <a:spcAft>
                <a:spcPts val="400"/>
              </a:spcAft>
              <a:buNone/>
            </a:pPr>
            <a:r>
              <a:rPr lang="ja-JP" sz="1600" dirty="0">
                <a:solidFill>
                  <a:schemeClr val="tx1"/>
                </a:solidFill>
              </a:rPr>
              <a:t>院内マニュアルや院内システムでの利用を、利用報告フォームで把握する</a:t>
            </a:r>
            <a:endParaRPr lang="ja-JP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sz="3000" b="1" dirty="0">
                <a:solidFill>
                  <a:schemeClr val="bg1"/>
                </a:solidFill>
              </a:rPr>
              <a:t>まとめ</a:t>
            </a:r>
            <a:endParaRPr lang="ja-JP" sz="3000" dirty="0"/>
          </a:p>
        </p:txBody>
      </p:sp>
      <p:sp>
        <p:nvSpPr>
          <p:cNvPr id="3" name="summary"/>
          <p:cNvSpPr txBox="1"/>
          <p:nvPr/>
        </p:nvSpPr>
        <p:spPr>
          <a:xfrm>
            <a:off x="548640" y="1371600"/>
            <a:ext cx="6583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ja-JP" sz="1800" dirty="0">
                <a:solidFill>
                  <a:schemeClr val="bg1"/>
                </a:solidFill>
              </a:rPr>
              <a:t>周術期・造影 CT 検査前の休薬情報 152 剤を、ガイドライン別の値と根拠 (所在・引用) をたどれる形で整理した</a:t>
            </a:r>
            <a:endParaRPr lang="ja-JP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ja-JP" sz="1800" dirty="0">
                <a:solidFill>
                  <a:schemeClr val="bg1"/>
                </a:solidFill>
              </a:rPr>
              <a:t>変化の検知、原文での確認と作者の承認、自動の検査の三段構えで更新し続ける</a:t>
            </a:r>
            <a:endParaRPr lang="ja-JP" sz="1800" dirty="0"/>
          </a:p>
          <a:p>
            <a:pPr marL="342900" indent="-342900">
              <a:buSzPct val="100000"/>
              <a:buChar char="•"/>
            </a:pPr>
            <a:r>
              <a:rPr lang="ja-JP" sz="1800" dirty="0">
                <a:solidFill>
                  <a:schemeClr val="bg1"/>
                </a:solidFill>
              </a:rPr>
              <a:t>参照アプリ・API・全件データを CC BY 4.0 で無料公開している</a:t>
            </a:r>
            <a:endParaRPr lang="ja-JP" sz="1800" dirty="0"/>
          </a:p>
        </p:txBody>
      </p:sp>
      <p:sp>
        <p:nvSpPr>
          <p:cNvPr id="4" name="qr-bg"/>
          <p:cNvSpPr/>
          <p:nvPr/>
        </p:nvSpPr>
        <p:spPr>
          <a:xfrm>
            <a:off x="7589520" y="1463040"/>
            <a:ext cx="118872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5" name="qr" descr="参照アプリの QR コー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2672" y="1536192"/>
            <a:ext cx="1042416" cy="1042416"/>
          </a:xfrm>
          <a:prstGeom prst="rect">
            <a:avLst/>
          </a:prstGeom>
        </p:spPr>
      </p:pic>
      <p:sp>
        <p:nvSpPr>
          <p:cNvPr id="6" name="text"/>
          <p:cNvSpPr txBox="1"/>
          <p:nvPr/>
        </p:nvSpPr>
        <p:spPr>
          <a:xfrm>
            <a:off x="7498080" y="27432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ja-JP" sz="1200" dirty="0">
                <a:solidFill>
                  <a:schemeClr val="bg2"/>
                </a:solidFill>
              </a:rPr>
              <a:t>参照アプリ</a:t>
            </a:r>
            <a:endParaRPr lang="ja-JP" sz="1200" dirty="0"/>
          </a:p>
        </p:txBody>
      </p:sp>
      <p:sp>
        <p:nvSpPr>
          <p:cNvPr id="7" name="qr-bg"/>
          <p:cNvSpPr/>
          <p:nvPr/>
        </p:nvSpPr>
        <p:spPr>
          <a:xfrm>
            <a:off x="8961120" y="1463040"/>
            <a:ext cx="118872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8" name="qr" descr="GitHub (データ・仕様)の QR コード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4272" y="1536192"/>
            <a:ext cx="1042416" cy="1042416"/>
          </a:xfrm>
          <a:prstGeom prst="rect">
            <a:avLst/>
          </a:prstGeom>
        </p:spPr>
      </p:pic>
      <p:sp>
        <p:nvSpPr>
          <p:cNvPr id="9" name="text"/>
          <p:cNvSpPr txBox="1"/>
          <p:nvPr/>
        </p:nvSpPr>
        <p:spPr>
          <a:xfrm>
            <a:off x="8869680" y="27432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ja-JP" sz="1200" dirty="0">
                <a:solidFill>
                  <a:schemeClr val="bg2"/>
                </a:solidFill>
              </a:rPr>
              <a:t>GitHub (データ・仕様)</a:t>
            </a:r>
            <a:endParaRPr lang="ja-JP" sz="1200" dirty="0"/>
          </a:p>
        </p:txBody>
      </p:sp>
      <p:sp>
        <p:nvSpPr>
          <p:cNvPr id="10" name="qr-bg"/>
          <p:cNvSpPr/>
          <p:nvPr/>
        </p:nvSpPr>
        <p:spPr>
          <a:xfrm>
            <a:off x="10332720" y="1463040"/>
            <a:ext cx="118872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1" name="qr" descr="利用報告フォームの QR コード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5872" y="1536192"/>
            <a:ext cx="1042416" cy="1042416"/>
          </a:xfrm>
          <a:prstGeom prst="rect">
            <a:avLst/>
          </a:prstGeom>
        </p:spPr>
      </p:pic>
      <p:sp>
        <p:nvSpPr>
          <p:cNvPr id="12" name="text"/>
          <p:cNvSpPr txBox="1"/>
          <p:nvPr/>
        </p:nvSpPr>
        <p:spPr>
          <a:xfrm>
            <a:off x="10241280" y="27432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ja-JP" sz="1200" dirty="0">
                <a:solidFill>
                  <a:schemeClr val="bg2"/>
                </a:solidFill>
              </a:rPr>
              <a:t>利用報告フォーム</a:t>
            </a:r>
            <a:endParaRPr lang="ja-JP" sz="1200" dirty="0"/>
          </a:p>
        </p:txBody>
      </p:sp>
      <p:sp>
        <p:nvSpPr>
          <p:cNvPr id="13" name="contact"/>
          <p:cNvSpPr txBox="1"/>
          <p:nvPr/>
        </p:nvSpPr>
        <p:spPr>
          <a:xfrm>
            <a:off x="7498080" y="3931920"/>
            <a:ext cx="41449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ja-JP" sz="1600" b="1" dirty="0">
                <a:solidFill>
                  <a:schemeClr val="bg1"/>
                </a:solidFill>
              </a:rPr>
              <a:t>梅谷 直亨 (外科医)</a:t>
            </a:r>
            <a:endParaRPr lang="ja-JP" sz="1600" dirty="0"/>
          </a:p>
          <a:p>
            <a:pPr marL="0" indent="0">
              <a:buNone/>
            </a:pPr>
            <a:r>
              <a:rPr lang="ja-JP" sz="1300" dirty="0">
                <a:solidFill>
                  <a:schemeClr val="bg2"/>
                </a:solidFill>
              </a:rPr>
              <a:t>https://numero-uno-jpn.github.io/kyuyaku-data/</a:t>
            </a:r>
            <a:endParaRPr lang="ja-JP" sz="1600" dirty="0"/>
          </a:p>
          <a:p>
            <a:pPr marL="0" indent="0">
              <a:buNone/>
            </a:pPr>
            <a:r>
              <a:rPr lang="ja-JP" sz="1300" dirty="0">
                <a:solidFill>
                  <a:schemeClr val="bg2"/>
                </a:solidFill>
              </a:rPr>
              <a:t>https://github.com/numero-uno-jpn/kyuyaku-data</a:t>
            </a:r>
            <a:endParaRPr lang="ja-JP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yuyaku Data">
  <a:themeElements>
    <a:clrScheme name="Kyuyaku Data">
      <a:dk1>
        <a:srgbClr val="1A1A1C"/>
      </a:dk1>
      <a:lt1>
        <a:srgbClr val="FFFFFF"/>
      </a:lt1>
      <a:dk2>
        <a:srgbClr val="14532D"/>
      </a:dk2>
      <a:lt2>
        <a:srgbClr val="EEF5F0"/>
      </a:lt2>
      <a:accent1>
        <a:srgbClr val="2B6648"/>
      </a:accent1>
      <a:accent2>
        <a:srgbClr val="B3261E"/>
      </a:accent2>
      <a:accent3>
        <a:srgbClr val="8A5300"/>
      </a:accent3>
      <a:accent4>
        <a:srgbClr val="D5E8DC"/>
      </a:accent4>
      <a:accent5>
        <a:srgbClr val="454D49"/>
      </a:accent5>
      <a:accent6>
        <a:srgbClr val="1F6F8B"/>
      </a:accent6>
      <a:hlink>
        <a:srgbClr val="1F6F8B"/>
      </a:hlink>
      <a:folHlink>
        <a:srgbClr val="5F6B66"/>
      </a:folHlink>
    </a:clrScheme>
    <a:fontScheme name="Kyuyaku Data">
      <a:majorFont>
        <a:latin typeface="BIZ UDPGothic"/>
        <a:ea typeface="BIZ UDPGothic"/>
        <a:cs typeface=""/>
        <a:font script="Jpan" typeface="BIZ UDPGothic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IZ UDPGothic"/>
        <a:ea typeface="BIZ UDPGothic"/>
        <a:cs typeface=""/>
        <a:font script="Jpan" typeface="BIZ UDP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3006</Words>
  <Application>Microsoft Office PowerPoint</Application>
  <PresentationFormat>ワイド画面</PresentationFormat>
  <Paragraphs>316</Paragraphs>
  <Slides>19</Slides>
  <Notes>19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19</vt:i4>
      </vt:variant>
    </vt:vector>
  </HeadingPairs>
  <TitlesOfParts>
    <vt:vector size="22" baseType="lpstr">
      <vt:lpstr>BIZ UDPGothic</vt:lpstr>
      <vt:lpstr>Arial</vt:lpstr>
      <vt:lpstr>Kyuyaku Data</vt:lpstr>
      <vt:lpstr>休薬情報データベース (Kyuyaku Data)</vt:lpstr>
      <vt:lpstr>背景: 休薬の確認は、現場の努力だけでは漏れる</vt:lpstr>
      <vt:lpstr>作者の経験: 忙しい外来での見落とし</vt:lpstr>
      <vt:lpstr>目的: 比べられる・たどれる・区別できる</vt:lpstr>
      <vt:lpstr>収録範囲: 周術期と造影 CT 検査前の休薬に関わる薬</vt:lpstr>
      <vt:lpstr>一次資料: 国内外のガイドラインと添付文書</vt:lpstr>
      <vt:lpstr>表示用の値は「安全側 (長い方)」で決める</vt:lpstr>
      <vt:lpstr>値の出どころを区別する (value_derivation)</vt:lpstr>
      <vt:lpstr>根拠の確認状況: 原文と照合できたものだけを verified に</vt:lpstr>
      <vt:lpstr>更新し続ける仕組み: 三段構え</vt:lpstr>
      <vt:lpstr>① 変化を漏れなく検知する (毎月・自動)</vt:lpstr>
      <vt:lpstr>AI の役割: AI の発達で初めて実現した網羅性</vt:lpstr>
      <vt:lpstr>ハルシネーション (AI のもっともらしい誤り) を防ぐ</vt:lpstr>
      <vt:lpstr>② 作者が承認して反映し、③ 自動の検査を通す</vt:lpstr>
      <vt:lpstr>参照アプリ: ブラウザでそのまま使える</vt:lpstr>
      <vt:lpstr>公開の形: 参照アプリ・API・全件データ</vt:lpstr>
      <vt:lpstr>限界と利用上の注意</vt:lpstr>
      <vt:lpstr>今後</vt:lpstr>
      <vt:lpstr>まとめ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休薬情報データベース (Kyuyaku Data)</dc:title>
  <dc:subject>PptxGenJS Presentation</dc:subject>
  <dc:creator>梅谷 直亨</dc:creator>
  <cp:lastModifiedBy>直亨 梅谷</cp:lastModifiedBy>
  <cp:revision>2</cp:revision>
  <dcterms:created xsi:type="dcterms:W3CDTF">2026-10-20T22:33:43Z</dcterms:created>
  <dcterms:modified xsi:type="dcterms:W3CDTF">2026-10-21T00:28:48Z</dcterms:modified>
</cp:coreProperties>
</file>