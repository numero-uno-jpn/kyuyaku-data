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ご紹介" id="{AF5B59F2-C512-EBAF-5F82-8733C8F8A5BC}">
          <p14:sldIdLst>
            <p14:sldId id="256"/>
            <p14:sldId id="257"/>
            <p14:sldId id="258"/>
          </p14:sldIdLst>
        </p14:section>
        <p14:section name="使い方" id="{B0CA8527-96E0-7570-E1C3-2C82688D68FF}">
          <p14:sldIdLst>
            <p14:sldId id="259"/>
            <p14:sldId id="260"/>
          </p14:sldIdLst>
        </p14:section>
        <p14:section name="信頼性" id="{0C91CD0C-E5B9-4E7D-2B41-05ED28659925}">
          <p14:sldIdLst>
            <p14:sldId id="261"/>
          </p14:sldIdLst>
        </p14:section>
        <p14:section name="ご利用" id="{CD63336E-1EA0-F314-7AFC-6431DE0A0AC5}">
          <p14:sldIdLst>
            <p14:sldId id="262"/>
            <p14:sldId id="263"/>
            <p14:sldId id="264"/>
            <p14:sldId id="265"/>
          </p14:sldIdLst>
        </p14:section>
        <p14:section name="お問い合わせ" id="{D5F35417-436E-F7FC-7EF9-426A5CB63BE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9"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7650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728655" cy="1463040"/>
          </a:xfrm>
          <a:prstGeom prst="rect">
            <a:avLst/>
          </a:prstGeom>
          <a:noFill/>
          <a:ln/>
        </p:spPr>
        <p:txBody>
          <a:bodyPr wrap="square" rtlCol="0"/>
          <a:lstStyle>
            <a:lvl1pPr marL="0" indent="0" algn="l">
              <a:buNone/>
              <a:defRPr lang="ja-JP" sz="4000" b="1" dirty="0">
                <a:solidFill>
                  <a:schemeClr val="bg1"/>
                </a:solidFill>
              </a:defRPr>
            </a:lvl1pPr>
          </a:lstStyle>
          <a:p>
            <a:pPr marL="0" indent="0" algn="l">
              <a:buNone/>
            </a:pPr>
            <a:endParaRPr lang="ja-JP" sz="4000" dirty="0"/>
          </a:p>
        </p:txBody>
      </p:sp>
      <p:sp>
        <p:nvSpPr>
          <p:cNvPr id="3" name="Text 0"/>
          <p:cNvSpPr>
            <a:spLocks noGrp="1"/>
          </p:cNvSpPr>
          <p:nvPr>
            <p:ph type="body" idx="101" hasCustomPrompt="1"/>
          </p:nvPr>
        </p:nvSpPr>
        <p:spPr>
          <a:xfrm>
            <a:off x="731520" y="3520440"/>
            <a:ext cx="10728655" cy="2377440"/>
          </a:xfrm>
          <a:prstGeom prst="rect">
            <a:avLst/>
          </a:prstGeom>
          <a:noFill/>
          <a:ln/>
        </p:spPr>
        <p:txBody>
          <a:bodyPr wrap="square" rtlCol="0"/>
          <a:lstStyle>
            <a:lvl1pPr marL="0" indent="0">
              <a:buNone/>
              <a:defRPr lang="ja-JP" sz="1800" dirty="0">
                <a:solidFill>
                  <a:schemeClr val="bg2"/>
                </a:solidFill>
              </a:defRPr>
            </a:lvl1pPr>
          </a:lstStyle>
          <a:p>
            <a:pPr marL="0" indent="0">
              <a:buNone/>
            </a:pPr>
            <a:endParaRPr lang="ja-JP"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rtlCol="0"/>
          <a:lstStyle>
            <a:lvl1pPr marL="0" indent="0" algn="l">
              <a:buNone/>
              <a:defRPr lang="ja-JP" sz="3000" b="1" dirty="0">
                <a:solidFill>
                  <a:schemeClr val="tx2"/>
                </a:solidFill>
              </a:defRPr>
            </a:lvl1pPr>
          </a:lstStyle>
          <a:p>
            <a:pPr marL="0" indent="0" algn="l">
              <a:buNone/>
            </a:pPr>
            <a:endParaRPr lang="ja-JP"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ja-JP" sz="1100" dirty="0">
                <a:solidFill>
                  <a:schemeClr val="accent5"/>
                </a:solidFill>
              </a:rPr>
              <a:t>休薬情報データベース (Kyuyaku Data) ・ </a:t>
            </a:r>
            <a:r>
              <a:rPr lang="en-US" altLang="ja-JP" sz="1100" dirty="0">
                <a:solidFill>
                  <a:schemeClr val="accent5"/>
                </a:solidFill>
              </a:rPr>
              <a:t>Naoyuki </a:t>
            </a:r>
            <a:r>
              <a:rPr lang="en-US" altLang="ja-JP" sz="1100" dirty="0" err="1">
                <a:solidFill>
                  <a:schemeClr val="accent5"/>
                </a:solidFill>
              </a:rPr>
              <a:t>Umetani</a:t>
            </a:r>
            <a:endParaRPr lang="ja-JP"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rtlCol="0"/>
          <a:lstStyle>
            <a:lvl1pPr marL="0" indent="0" algn="l">
              <a:buNone/>
              <a:defRPr lang="ja-JP" sz="3000" b="1" dirty="0">
                <a:solidFill>
                  <a:schemeClr val="bg1"/>
                </a:solidFill>
              </a:defRPr>
            </a:lvl1pPr>
          </a:lstStyle>
          <a:p>
            <a:pPr marL="0" indent="0" algn="l">
              <a:buNone/>
            </a:pPr>
            <a:endParaRPr lang="ja-JP"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BIZ UDPGothic"/>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BIZ UDPGothic"/>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BIZ UDPGothic"/>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BIZ UDPGothic"/>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BIZ UDPGothic"/>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BIZ UDPGothic"/>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BIZ UDPGothic"/>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BIZ UDPGothic"/>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BIZ UDPGothic"/>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BIZ UDPGothic"/>
          <a:cs typeface="+mn-cs"/>
        </a:defRPr>
      </a:lvl9pPr>
    </p:bodyStyle>
    <p:otherStyle>
      <a:defPPr>
        <a:defRPr lang="ja-JP"/>
      </a:defPPr>
      <a:lvl1pPr marL="0" algn="l" defTabSz="914400" rtl="0" eaLnBrk="1" latinLnBrk="0" hangingPunct="1">
        <a:defRPr sz="1800" kern="1200">
          <a:solidFill>
            <a:schemeClr val="tx1"/>
          </a:solidFill>
          <a:latin typeface="+mn-lt"/>
          <a:ea typeface="BIZ UDPGothic"/>
          <a:cs typeface="+mn-cs"/>
        </a:defRPr>
      </a:lvl1pPr>
      <a:lvl2pPr marL="457200" algn="l" defTabSz="914400" rtl="0" eaLnBrk="1" latinLnBrk="0" hangingPunct="1">
        <a:defRPr sz="1800" kern="1200">
          <a:solidFill>
            <a:schemeClr val="tx1"/>
          </a:solidFill>
          <a:latin typeface="+mn-lt"/>
          <a:ea typeface="BIZ UDPGothic"/>
          <a:cs typeface="+mn-cs"/>
        </a:defRPr>
      </a:lvl2pPr>
      <a:lvl3pPr marL="914400" algn="l" defTabSz="914400" rtl="0" eaLnBrk="1" latinLnBrk="0" hangingPunct="1">
        <a:defRPr sz="1800" kern="1200">
          <a:solidFill>
            <a:schemeClr val="tx1"/>
          </a:solidFill>
          <a:latin typeface="+mn-lt"/>
          <a:ea typeface="BIZ UDPGothic"/>
          <a:cs typeface="+mn-cs"/>
        </a:defRPr>
      </a:lvl3pPr>
      <a:lvl4pPr marL="1371600" algn="l" defTabSz="914400" rtl="0" eaLnBrk="1" latinLnBrk="0" hangingPunct="1">
        <a:defRPr sz="1800" kern="1200">
          <a:solidFill>
            <a:schemeClr val="tx1"/>
          </a:solidFill>
          <a:latin typeface="+mn-lt"/>
          <a:ea typeface="BIZ UDPGothic"/>
          <a:cs typeface="+mn-cs"/>
        </a:defRPr>
      </a:lvl4pPr>
      <a:lvl5pPr marL="1828800" algn="l" defTabSz="914400" rtl="0" eaLnBrk="1" latinLnBrk="0" hangingPunct="1">
        <a:defRPr sz="1800" kern="1200">
          <a:solidFill>
            <a:schemeClr val="tx1"/>
          </a:solidFill>
          <a:latin typeface="+mn-lt"/>
          <a:ea typeface="BIZ UDPGothic"/>
          <a:cs typeface="+mn-cs"/>
        </a:defRPr>
      </a:lvl5pPr>
      <a:lvl6pPr marL="2286000" algn="l" defTabSz="914400" rtl="0" eaLnBrk="1" latinLnBrk="0" hangingPunct="1">
        <a:defRPr sz="1800" kern="1200">
          <a:solidFill>
            <a:schemeClr val="tx1"/>
          </a:solidFill>
          <a:latin typeface="+mn-lt"/>
          <a:ea typeface="BIZ UDPGothic"/>
          <a:cs typeface="+mn-cs"/>
        </a:defRPr>
      </a:lvl6pPr>
      <a:lvl7pPr marL="2743200" algn="l" defTabSz="914400" rtl="0" eaLnBrk="1" latinLnBrk="0" hangingPunct="1">
        <a:defRPr sz="1800" kern="1200">
          <a:solidFill>
            <a:schemeClr val="tx1"/>
          </a:solidFill>
          <a:latin typeface="+mn-lt"/>
          <a:ea typeface="BIZ UDPGothic"/>
          <a:cs typeface="+mn-cs"/>
        </a:defRPr>
      </a:lvl7pPr>
      <a:lvl8pPr marL="3200400" algn="l" defTabSz="914400" rtl="0" eaLnBrk="1" latinLnBrk="0" hangingPunct="1">
        <a:defRPr sz="1800" kern="1200">
          <a:solidFill>
            <a:schemeClr val="tx1"/>
          </a:solidFill>
          <a:latin typeface="+mn-lt"/>
          <a:ea typeface="BIZ UDPGothic"/>
          <a:cs typeface="+mn-cs"/>
        </a:defRPr>
      </a:lvl8pPr>
      <a:lvl9pPr marL="3657600" algn="l" defTabSz="914400" rtl="0" eaLnBrk="1" latinLnBrk="0" hangingPunct="1">
        <a:defRPr sz="1800" kern="1200">
          <a:solidFill>
            <a:schemeClr val="tx1"/>
          </a:solidFill>
          <a:latin typeface="+mn-lt"/>
          <a:ea typeface="BIZ UD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728655" cy="1463040"/>
          </a:xfrm>
          <a:prstGeom prst="rect">
            <a:avLst/>
          </a:prstGeom>
          <a:noFill/>
          <a:ln/>
        </p:spPr>
        <p:txBody>
          <a:bodyPr wrap="square" lIns="0" tIns="0" rIns="0" bIns="0" rtlCol="0" anchor="b"/>
          <a:lstStyle/>
          <a:p>
            <a:pPr marL="0" indent="0" algn="l">
              <a:buNone/>
            </a:pPr>
            <a:r>
              <a:rPr lang="ja-JP" sz="4000" b="1" dirty="0">
                <a:solidFill>
                  <a:schemeClr val="bg1"/>
                </a:solidFill>
              </a:rPr>
              <a:t>休薬情報データベース 病院での活用のご案内</a:t>
            </a:r>
            <a:endParaRPr lang="ja-JP" sz="4000" dirty="0"/>
          </a:p>
        </p:txBody>
      </p:sp>
      <p:sp>
        <p:nvSpPr>
          <p:cNvPr id="3" name="Text 0"/>
          <p:cNvSpPr>
            <a:spLocks noGrp="1"/>
          </p:cNvSpPr>
          <p:nvPr>
            <p:ph type="body" idx="101" hasCustomPrompt="1"/>
          </p:nvPr>
        </p:nvSpPr>
        <p:spPr>
          <a:xfrm>
            <a:off x="731520" y="3520440"/>
            <a:ext cx="10728655" cy="2377440"/>
          </a:xfrm>
          <a:prstGeom prst="rect">
            <a:avLst/>
          </a:prstGeom>
          <a:noFill/>
          <a:ln/>
        </p:spPr>
        <p:txBody>
          <a:bodyPr wrap="square" lIns="0" tIns="0" rIns="0" bIns="0" rtlCol="0" anchor="t"/>
          <a:lstStyle/>
          <a:p>
            <a:pPr marL="0" indent="0">
              <a:spcAft>
                <a:spcPts val="1000"/>
              </a:spcAft>
              <a:buNone/>
            </a:pPr>
            <a:r>
              <a:rPr lang="ja-JP" sz="1800" dirty="0">
                <a:solidFill>
                  <a:schemeClr val="bg2"/>
                </a:solidFill>
              </a:rPr>
              <a:t>薬剤部・医療安全管理室のみなさまへ</a:t>
            </a:r>
            <a:endParaRPr lang="ja-JP" sz="1800" dirty="0"/>
          </a:p>
          <a:p>
            <a:pPr marL="0" indent="0">
              <a:spcAft>
                <a:spcPts val="2400"/>
              </a:spcAft>
              <a:buNone/>
            </a:pPr>
            <a:r>
              <a:rPr lang="ja-JP" sz="1800" dirty="0">
                <a:solidFill>
                  <a:schemeClr val="bg2"/>
                </a:solidFill>
              </a:rPr>
              <a:t>手術・処置・造影 CT 検査の前の休薬を、一次資料に基づいて すぐ確認できます。無料・登録不要</a:t>
            </a:r>
            <a:endParaRPr lang="ja-JP" sz="1800" dirty="0"/>
          </a:p>
          <a:p>
            <a:pPr>
              <a:spcAft>
                <a:spcPts val="600"/>
              </a:spcAft>
            </a:pPr>
            <a:r>
              <a:rPr lang="ja-JP" altLang="ja-JP" b="1" dirty="0">
                <a:solidFill>
                  <a:schemeClr val="bg1"/>
                </a:solidFill>
              </a:rPr>
              <a:t>梅谷 直亨 (</a:t>
            </a:r>
            <a:r>
              <a:rPr lang="ja-JP" altLang="en-US" b="1" dirty="0">
                <a:solidFill>
                  <a:schemeClr val="bg1"/>
                </a:solidFill>
              </a:rPr>
              <a:t>うめたに なおゆき</a:t>
            </a:r>
            <a:r>
              <a:rPr lang="en-US" altLang="ja-JP" b="1" dirty="0">
                <a:solidFill>
                  <a:schemeClr val="bg1"/>
                </a:solidFill>
              </a:rPr>
              <a:t>; Naoyuki </a:t>
            </a:r>
            <a:r>
              <a:rPr lang="en-US" altLang="ja-JP" b="1" dirty="0" err="1">
                <a:solidFill>
                  <a:schemeClr val="bg1"/>
                </a:solidFill>
              </a:rPr>
              <a:t>Umetani</a:t>
            </a:r>
            <a:r>
              <a:rPr lang="en-US" altLang="ja-JP" b="1" dirty="0">
                <a:solidFill>
                  <a:schemeClr val="bg1"/>
                </a:solidFill>
              </a:rPr>
              <a:t> MD, PhD</a:t>
            </a:r>
            <a:r>
              <a:rPr lang="ja-JP" altLang="ja-JP" b="1" dirty="0">
                <a:solidFill>
                  <a:schemeClr val="bg1"/>
                </a:solidFill>
              </a:rPr>
              <a:t>)</a:t>
            </a:r>
            <a:endParaRPr lang="ja-JP" sz="1800" dirty="0"/>
          </a:p>
          <a:p>
            <a:pPr marL="0" indent="0">
              <a:buNone/>
            </a:pPr>
            <a:r>
              <a:rPr lang="ja-JP" sz="1500" dirty="0">
                <a:solidFill>
                  <a:schemeClr val="bg2"/>
                </a:solidFill>
              </a:rPr>
              <a:t>https://numero-uno-jpn.github.io/kyuyaku-data/</a:t>
            </a:r>
            <a:endParaRPr lang="ja-JP"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こんな場面で役立ちます</a:t>
            </a:r>
            <a:endParaRPr lang="ja-JP" sz="3000" dirty="0"/>
          </a:p>
        </p:txBody>
      </p:sp>
      <p:sp>
        <p:nvSpPr>
          <p:cNvPr id="3" name="card"/>
          <p:cNvSpPr/>
          <p:nvPr/>
        </p:nvSpPr>
        <p:spPr>
          <a:xfrm>
            <a:off x="548640" y="1417320"/>
            <a:ext cx="3515258" cy="3291840"/>
          </a:xfrm>
          <a:prstGeom prst="roundRect">
            <a:avLst>
              <a:gd name="adj" fmla="val 3333"/>
            </a:avLst>
          </a:prstGeom>
          <a:solidFill>
            <a:schemeClr val="bg2"/>
          </a:solidFill>
          <a:ln w="12700">
            <a:solidFill>
              <a:srgbClr val="6E8577"/>
            </a:solidFill>
            <a:prstDash val="solid"/>
          </a:ln>
        </p:spPr>
        <p:txBody>
          <a:bodyPr/>
          <a:lstStyle/>
          <a:p>
            <a:endParaRPr lang="ja-JP" altLang="en-US"/>
          </a:p>
        </p:txBody>
      </p:sp>
      <p:sp>
        <p:nvSpPr>
          <p:cNvPr id="4" name="badge"/>
          <p:cNvSpPr/>
          <p:nvPr/>
        </p:nvSpPr>
        <p:spPr>
          <a:xfrm>
            <a:off x="822960" y="1691640"/>
            <a:ext cx="658368" cy="658368"/>
          </a:xfrm>
          <a:prstGeom prst="ellipse">
            <a:avLst/>
          </a:prstGeom>
          <a:solidFill>
            <a:schemeClr val="accent1"/>
          </a:solidFill>
          <a:ln/>
        </p:spPr>
        <p:txBody>
          <a:bodyPr/>
          <a:lstStyle/>
          <a:p>
            <a:endParaRPr lang="ja-JP" altLang="en-US"/>
          </a:p>
        </p:txBody>
      </p:sp>
      <p:sp>
        <p:nvSpPr>
          <p:cNvPr id="5" name="badge-label"/>
          <p:cNvSpPr txBox="1"/>
          <p:nvPr/>
        </p:nvSpPr>
        <p:spPr>
          <a:xfrm>
            <a:off x="822960" y="1691640"/>
            <a:ext cx="658368" cy="658368"/>
          </a:xfrm>
          <a:prstGeom prst="rect">
            <a:avLst/>
          </a:prstGeom>
          <a:noFill/>
          <a:ln/>
        </p:spPr>
        <p:txBody>
          <a:bodyPr wrap="square" lIns="0" tIns="0" rIns="0" bIns="0" rtlCol="0" anchor="ctr"/>
          <a:lstStyle/>
          <a:p>
            <a:pPr marL="0" indent="0" algn="ctr">
              <a:buNone/>
            </a:pPr>
            <a:r>
              <a:rPr lang="ja-JP" sz="2000" b="1" dirty="0">
                <a:solidFill>
                  <a:schemeClr val="bg1"/>
                </a:solidFill>
              </a:rPr>
              <a:t>1</a:t>
            </a:r>
            <a:endParaRPr lang="ja-JP" sz="2000" dirty="0"/>
          </a:p>
        </p:txBody>
      </p:sp>
      <p:sp>
        <p:nvSpPr>
          <p:cNvPr id="6" name="text"/>
          <p:cNvSpPr txBox="1"/>
          <p:nvPr/>
        </p:nvSpPr>
        <p:spPr>
          <a:xfrm>
            <a:off x="822960" y="2606040"/>
            <a:ext cx="2966618" cy="2011680"/>
          </a:xfrm>
          <a:prstGeom prst="rect">
            <a:avLst/>
          </a:prstGeom>
          <a:noFill/>
          <a:ln/>
        </p:spPr>
        <p:txBody>
          <a:bodyPr wrap="square" lIns="0" tIns="0" rIns="0" bIns="0" rtlCol="0" anchor="t"/>
          <a:lstStyle/>
          <a:p>
            <a:pPr marL="0" indent="0">
              <a:spcAft>
                <a:spcPts val="600"/>
              </a:spcAft>
              <a:buNone/>
            </a:pPr>
            <a:r>
              <a:rPr lang="ja-JP" sz="1900" b="1" dirty="0">
                <a:solidFill>
                  <a:schemeClr val="tx2"/>
                </a:solidFill>
              </a:rPr>
              <a:t>術前外来・入院前の確認</a:t>
            </a:r>
            <a:endParaRPr lang="ja-JP" sz="1900" dirty="0"/>
          </a:p>
          <a:p>
            <a:pPr marL="0" indent="0">
              <a:spcAft>
                <a:spcPts val="400"/>
              </a:spcAft>
              <a:buNone/>
            </a:pPr>
            <a:r>
              <a:rPr lang="ja-JP" sz="1500" dirty="0">
                <a:solidFill>
                  <a:schemeClr val="tx1"/>
                </a:solidFill>
              </a:rPr>
              <a:t>持参薬・お薬手帳に並ぶ商品名から、休薬が必要な薬と日数をすぐ引ける。合剤 (配合錠) に含まれる成分も一般名でたどれる</a:t>
            </a:r>
            <a:endParaRPr lang="ja-JP" sz="1900" dirty="0"/>
          </a:p>
        </p:txBody>
      </p:sp>
      <p:sp>
        <p:nvSpPr>
          <p:cNvPr id="7" name="card"/>
          <p:cNvSpPr/>
          <p:nvPr/>
        </p:nvSpPr>
        <p:spPr>
          <a:xfrm>
            <a:off x="4338218" y="1417320"/>
            <a:ext cx="3515258" cy="3291840"/>
          </a:xfrm>
          <a:prstGeom prst="roundRect">
            <a:avLst>
              <a:gd name="adj" fmla="val 3333"/>
            </a:avLst>
          </a:prstGeom>
          <a:solidFill>
            <a:schemeClr val="bg2"/>
          </a:solidFill>
          <a:ln w="12700">
            <a:solidFill>
              <a:srgbClr val="6E8577"/>
            </a:solidFill>
            <a:prstDash val="solid"/>
          </a:ln>
        </p:spPr>
        <p:txBody>
          <a:bodyPr/>
          <a:lstStyle/>
          <a:p>
            <a:endParaRPr lang="ja-JP" altLang="en-US"/>
          </a:p>
        </p:txBody>
      </p:sp>
      <p:sp>
        <p:nvSpPr>
          <p:cNvPr id="8" name="badge"/>
          <p:cNvSpPr/>
          <p:nvPr/>
        </p:nvSpPr>
        <p:spPr>
          <a:xfrm>
            <a:off x="4612538" y="1691640"/>
            <a:ext cx="658368" cy="658368"/>
          </a:xfrm>
          <a:prstGeom prst="ellipse">
            <a:avLst/>
          </a:prstGeom>
          <a:solidFill>
            <a:schemeClr val="accent1"/>
          </a:solidFill>
          <a:ln/>
        </p:spPr>
        <p:txBody>
          <a:bodyPr/>
          <a:lstStyle/>
          <a:p>
            <a:endParaRPr lang="ja-JP" altLang="en-US"/>
          </a:p>
        </p:txBody>
      </p:sp>
      <p:sp>
        <p:nvSpPr>
          <p:cNvPr id="9" name="badge-label"/>
          <p:cNvSpPr txBox="1"/>
          <p:nvPr/>
        </p:nvSpPr>
        <p:spPr>
          <a:xfrm>
            <a:off x="4612538" y="1691640"/>
            <a:ext cx="658368" cy="658368"/>
          </a:xfrm>
          <a:prstGeom prst="rect">
            <a:avLst/>
          </a:prstGeom>
          <a:noFill/>
          <a:ln/>
        </p:spPr>
        <p:txBody>
          <a:bodyPr wrap="square" lIns="0" tIns="0" rIns="0" bIns="0" rtlCol="0" anchor="ctr"/>
          <a:lstStyle/>
          <a:p>
            <a:pPr marL="0" indent="0" algn="ctr">
              <a:buNone/>
            </a:pPr>
            <a:r>
              <a:rPr lang="ja-JP" sz="2000" b="1" dirty="0">
                <a:solidFill>
                  <a:schemeClr val="bg1"/>
                </a:solidFill>
              </a:rPr>
              <a:t>2</a:t>
            </a:r>
            <a:endParaRPr lang="ja-JP" sz="2000" dirty="0"/>
          </a:p>
        </p:txBody>
      </p:sp>
      <p:sp>
        <p:nvSpPr>
          <p:cNvPr id="10" name="text"/>
          <p:cNvSpPr txBox="1"/>
          <p:nvPr/>
        </p:nvSpPr>
        <p:spPr>
          <a:xfrm>
            <a:off x="4612538" y="2606040"/>
            <a:ext cx="2966618" cy="2011680"/>
          </a:xfrm>
          <a:prstGeom prst="rect">
            <a:avLst/>
          </a:prstGeom>
          <a:noFill/>
          <a:ln/>
        </p:spPr>
        <p:txBody>
          <a:bodyPr wrap="square" lIns="0" tIns="0" rIns="0" bIns="0" rtlCol="0" anchor="t"/>
          <a:lstStyle/>
          <a:p>
            <a:pPr marL="0" indent="0">
              <a:spcAft>
                <a:spcPts val="600"/>
              </a:spcAft>
              <a:buNone/>
            </a:pPr>
            <a:r>
              <a:rPr lang="ja-JP" sz="1900" b="1" dirty="0">
                <a:solidFill>
                  <a:schemeClr val="tx2"/>
                </a:solidFill>
              </a:rPr>
              <a:t>手術・処置・区域麻酔の前</a:t>
            </a:r>
            <a:endParaRPr lang="ja-JP" sz="1900" dirty="0"/>
          </a:p>
          <a:p>
            <a:pPr marL="0" indent="0">
              <a:spcAft>
                <a:spcPts val="400"/>
              </a:spcAft>
              <a:buNone/>
            </a:pPr>
            <a:r>
              <a:rPr lang="ja-JP" sz="1500" dirty="0">
                <a:solidFill>
                  <a:schemeClr val="tx1"/>
                </a:solidFill>
              </a:rPr>
              <a:t>出血リスクの高い手術 / 低い手術ごとの休薬日数と、ガイドラインごとの値を並べて確認できる</a:t>
            </a:r>
            <a:endParaRPr lang="ja-JP" sz="1900" dirty="0"/>
          </a:p>
        </p:txBody>
      </p:sp>
      <p:sp>
        <p:nvSpPr>
          <p:cNvPr id="11" name="card"/>
          <p:cNvSpPr/>
          <p:nvPr/>
        </p:nvSpPr>
        <p:spPr>
          <a:xfrm>
            <a:off x="8127797" y="1417320"/>
            <a:ext cx="3515258" cy="3291840"/>
          </a:xfrm>
          <a:prstGeom prst="roundRect">
            <a:avLst>
              <a:gd name="adj" fmla="val 3333"/>
            </a:avLst>
          </a:prstGeom>
          <a:solidFill>
            <a:schemeClr val="bg2"/>
          </a:solidFill>
          <a:ln w="12700">
            <a:solidFill>
              <a:srgbClr val="6E8577"/>
            </a:solidFill>
            <a:prstDash val="solid"/>
          </a:ln>
        </p:spPr>
        <p:txBody>
          <a:bodyPr/>
          <a:lstStyle/>
          <a:p>
            <a:endParaRPr lang="ja-JP" altLang="en-US"/>
          </a:p>
        </p:txBody>
      </p:sp>
      <p:sp>
        <p:nvSpPr>
          <p:cNvPr id="12" name="badge"/>
          <p:cNvSpPr/>
          <p:nvPr/>
        </p:nvSpPr>
        <p:spPr>
          <a:xfrm>
            <a:off x="8402117" y="1691640"/>
            <a:ext cx="658368" cy="658368"/>
          </a:xfrm>
          <a:prstGeom prst="ellipse">
            <a:avLst/>
          </a:prstGeom>
          <a:solidFill>
            <a:schemeClr val="accent1"/>
          </a:solidFill>
          <a:ln/>
        </p:spPr>
        <p:txBody>
          <a:bodyPr/>
          <a:lstStyle/>
          <a:p>
            <a:endParaRPr lang="ja-JP" altLang="en-US"/>
          </a:p>
        </p:txBody>
      </p:sp>
      <p:sp>
        <p:nvSpPr>
          <p:cNvPr id="13" name="badge-label"/>
          <p:cNvSpPr txBox="1"/>
          <p:nvPr/>
        </p:nvSpPr>
        <p:spPr>
          <a:xfrm>
            <a:off x="8402117" y="1691640"/>
            <a:ext cx="658368" cy="658368"/>
          </a:xfrm>
          <a:prstGeom prst="rect">
            <a:avLst/>
          </a:prstGeom>
          <a:noFill/>
          <a:ln/>
        </p:spPr>
        <p:txBody>
          <a:bodyPr wrap="square" lIns="0" tIns="0" rIns="0" bIns="0" rtlCol="0" anchor="ctr"/>
          <a:lstStyle/>
          <a:p>
            <a:pPr marL="0" indent="0" algn="ctr">
              <a:buNone/>
            </a:pPr>
            <a:r>
              <a:rPr lang="ja-JP" sz="2000" b="1" dirty="0">
                <a:solidFill>
                  <a:schemeClr val="bg1"/>
                </a:solidFill>
              </a:rPr>
              <a:t>3</a:t>
            </a:r>
            <a:endParaRPr lang="ja-JP" sz="2000" dirty="0"/>
          </a:p>
        </p:txBody>
      </p:sp>
      <p:sp>
        <p:nvSpPr>
          <p:cNvPr id="14" name="text"/>
          <p:cNvSpPr txBox="1"/>
          <p:nvPr/>
        </p:nvSpPr>
        <p:spPr>
          <a:xfrm>
            <a:off x="8402117" y="2606040"/>
            <a:ext cx="2966618" cy="2011680"/>
          </a:xfrm>
          <a:prstGeom prst="rect">
            <a:avLst/>
          </a:prstGeom>
          <a:noFill/>
          <a:ln/>
        </p:spPr>
        <p:txBody>
          <a:bodyPr wrap="square" lIns="0" tIns="0" rIns="0" bIns="0" rtlCol="0" anchor="t"/>
          <a:lstStyle/>
          <a:p>
            <a:pPr marL="0" indent="0">
              <a:spcAft>
                <a:spcPts val="600"/>
              </a:spcAft>
              <a:buNone/>
            </a:pPr>
            <a:r>
              <a:rPr lang="ja-JP" sz="1900" b="1" dirty="0">
                <a:solidFill>
                  <a:schemeClr val="tx2"/>
                </a:solidFill>
              </a:rPr>
              <a:t>造影 CT 検査の前</a:t>
            </a:r>
            <a:endParaRPr lang="ja-JP" sz="1900" dirty="0"/>
          </a:p>
          <a:p>
            <a:pPr marL="0" indent="0">
              <a:spcAft>
                <a:spcPts val="400"/>
              </a:spcAft>
              <a:buNone/>
            </a:pPr>
            <a:r>
              <a:rPr lang="ja-JP" sz="1500" dirty="0">
                <a:solidFill>
                  <a:schemeClr val="tx1"/>
                </a:solidFill>
              </a:rPr>
              <a:t>造影剤の使用前に休薬が必要な薬 (メトホルミンなど) と、その根拠を確認できる</a:t>
            </a:r>
            <a:endParaRPr lang="ja-JP" sz="1900" dirty="0"/>
          </a:p>
        </p:txBody>
      </p:sp>
      <p:sp>
        <p:nvSpPr>
          <p:cNvPr id="15" name="card"/>
          <p:cNvSpPr/>
          <p:nvPr/>
        </p:nvSpPr>
        <p:spPr>
          <a:xfrm>
            <a:off x="548640" y="4983480"/>
            <a:ext cx="11094415" cy="868680"/>
          </a:xfrm>
          <a:prstGeom prst="roundRect">
            <a:avLst>
              <a:gd name="adj" fmla="val 12632"/>
            </a:avLst>
          </a:prstGeom>
          <a:solidFill>
            <a:schemeClr val="accent4"/>
          </a:solidFill>
          <a:ln w="12700">
            <a:solidFill>
              <a:srgbClr val="6E8577"/>
            </a:solidFill>
            <a:prstDash val="solid"/>
          </a:ln>
        </p:spPr>
        <p:txBody>
          <a:bodyPr/>
          <a:lstStyle/>
          <a:p>
            <a:endParaRPr lang="ja-JP" altLang="en-US"/>
          </a:p>
        </p:txBody>
      </p:sp>
      <p:sp>
        <p:nvSpPr>
          <p:cNvPr id="16" name="text"/>
          <p:cNvSpPr txBox="1"/>
          <p:nvPr/>
        </p:nvSpPr>
        <p:spPr>
          <a:xfrm>
            <a:off x="822960" y="4983480"/>
            <a:ext cx="10545775" cy="868680"/>
          </a:xfrm>
          <a:prstGeom prst="rect">
            <a:avLst/>
          </a:prstGeom>
          <a:noFill/>
          <a:ln/>
        </p:spPr>
        <p:txBody>
          <a:bodyPr wrap="square" lIns="0" tIns="0" rIns="0" bIns="0" rtlCol="0" anchor="ctr"/>
          <a:lstStyle/>
          <a:p>
            <a:pPr marL="0" indent="0" algn="l">
              <a:buNone/>
            </a:pPr>
            <a:r>
              <a:rPr lang="ja-JP" sz="1500" b="1" dirty="0">
                <a:solidFill>
                  <a:schemeClr val="tx2"/>
                </a:solidFill>
              </a:rPr>
              <a:t>152 剤 (商品名・後発品名を含め 1,111 の名称) を収載。抗血栓薬、糖尿病薬、抗リウマチ薬・免疫抑制薬、ホルモン製剤、サプリメントなど</a:t>
            </a:r>
            <a:endParaRPr lang="ja-JP"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1 剤ごとに分かること</a:t>
            </a:r>
            <a:endParaRPr lang="ja-JP" sz="3000" dirty="0"/>
          </a:p>
        </p:txBody>
      </p:sp>
      <p:sp>
        <p:nvSpPr>
          <p:cNvPr id="3" name="badge"/>
          <p:cNvSpPr/>
          <p:nvPr/>
        </p:nvSpPr>
        <p:spPr>
          <a:xfrm>
            <a:off x="548640" y="1417320"/>
            <a:ext cx="566928" cy="566928"/>
          </a:xfrm>
          <a:prstGeom prst="ellipse">
            <a:avLst/>
          </a:prstGeom>
          <a:solidFill>
            <a:schemeClr val="accent1"/>
          </a:solidFill>
          <a:ln/>
        </p:spPr>
        <p:txBody>
          <a:bodyPr/>
          <a:lstStyle/>
          <a:p>
            <a:endParaRPr lang="ja-JP" altLang="en-US"/>
          </a:p>
        </p:txBody>
      </p:sp>
      <p:sp>
        <p:nvSpPr>
          <p:cNvPr id="4" name="badge-label"/>
          <p:cNvSpPr txBox="1"/>
          <p:nvPr/>
        </p:nvSpPr>
        <p:spPr>
          <a:xfrm>
            <a:off x="548640" y="141732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1</a:t>
            </a:r>
            <a:endParaRPr lang="ja-JP" sz="2000" dirty="0"/>
          </a:p>
        </p:txBody>
      </p:sp>
      <p:sp>
        <p:nvSpPr>
          <p:cNvPr id="5" name="text"/>
          <p:cNvSpPr txBox="1"/>
          <p:nvPr/>
        </p:nvSpPr>
        <p:spPr>
          <a:xfrm>
            <a:off x="1371600" y="1371600"/>
            <a:ext cx="4754880" cy="10515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休薬日数 (安全側の値)</a:t>
            </a:r>
            <a:endParaRPr lang="ja-JP" sz="1800" dirty="0"/>
          </a:p>
          <a:p>
            <a:pPr marL="0" indent="0">
              <a:spcAft>
                <a:spcPts val="400"/>
              </a:spcAft>
              <a:buNone/>
            </a:pPr>
            <a:r>
              <a:rPr lang="ja-JP" sz="1400" dirty="0">
                <a:solidFill>
                  <a:schemeClr val="tx1"/>
                </a:solidFill>
              </a:rPr>
              <a:t>出血リスク高 / 低の手術ごとに、現行ガイドラインの最長値を大きく表示</a:t>
            </a:r>
            <a:endParaRPr lang="ja-JP" sz="1800" dirty="0"/>
          </a:p>
        </p:txBody>
      </p:sp>
      <p:sp>
        <p:nvSpPr>
          <p:cNvPr id="6" name="badge"/>
          <p:cNvSpPr/>
          <p:nvPr/>
        </p:nvSpPr>
        <p:spPr>
          <a:xfrm>
            <a:off x="548640" y="2560320"/>
            <a:ext cx="566928" cy="566928"/>
          </a:xfrm>
          <a:prstGeom prst="ellipse">
            <a:avLst/>
          </a:prstGeom>
          <a:solidFill>
            <a:schemeClr val="accent1"/>
          </a:solidFill>
          <a:ln/>
        </p:spPr>
        <p:txBody>
          <a:bodyPr/>
          <a:lstStyle/>
          <a:p>
            <a:endParaRPr lang="ja-JP" altLang="en-US"/>
          </a:p>
        </p:txBody>
      </p:sp>
      <p:sp>
        <p:nvSpPr>
          <p:cNvPr id="7" name="badge-label"/>
          <p:cNvSpPr txBox="1"/>
          <p:nvPr/>
        </p:nvSpPr>
        <p:spPr>
          <a:xfrm>
            <a:off x="548640" y="256032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2</a:t>
            </a:r>
            <a:endParaRPr lang="ja-JP" sz="2000" dirty="0"/>
          </a:p>
        </p:txBody>
      </p:sp>
      <p:sp>
        <p:nvSpPr>
          <p:cNvPr id="8" name="text"/>
          <p:cNvSpPr txBox="1"/>
          <p:nvPr/>
        </p:nvSpPr>
        <p:spPr>
          <a:xfrm>
            <a:off x="1371600" y="2514600"/>
            <a:ext cx="4754880" cy="10515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ガイドラインごとの値</a:t>
            </a:r>
            <a:endParaRPr lang="ja-JP" sz="1800" dirty="0"/>
          </a:p>
          <a:p>
            <a:pPr marL="0" indent="0">
              <a:spcAft>
                <a:spcPts val="400"/>
              </a:spcAft>
              <a:buNone/>
            </a:pPr>
            <a:r>
              <a:rPr lang="ja-JP" sz="1400" dirty="0">
                <a:solidFill>
                  <a:schemeClr val="tx1"/>
                </a:solidFill>
              </a:rPr>
              <a:t>国内外の学会ガイドラインと添付文書の値を一覧で比べられる</a:t>
            </a:r>
            <a:endParaRPr lang="ja-JP" sz="1800" dirty="0"/>
          </a:p>
        </p:txBody>
      </p:sp>
      <p:sp>
        <p:nvSpPr>
          <p:cNvPr id="9" name="badge"/>
          <p:cNvSpPr/>
          <p:nvPr/>
        </p:nvSpPr>
        <p:spPr>
          <a:xfrm>
            <a:off x="548640" y="3703320"/>
            <a:ext cx="566928" cy="566928"/>
          </a:xfrm>
          <a:prstGeom prst="ellipse">
            <a:avLst/>
          </a:prstGeom>
          <a:solidFill>
            <a:schemeClr val="accent1"/>
          </a:solidFill>
          <a:ln/>
        </p:spPr>
        <p:txBody>
          <a:bodyPr/>
          <a:lstStyle/>
          <a:p>
            <a:endParaRPr lang="ja-JP" altLang="en-US"/>
          </a:p>
        </p:txBody>
      </p:sp>
      <p:sp>
        <p:nvSpPr>
          <p:cNvPr id="10" name="badge-label"/>
          <p:cNvSpPr txBox="1"/>
          <p:nvPr/>
        </p:nvSpPr>
        <p:spPr>
          <a:xfrm>
            <a:off x="548640" y="370332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3</a:t>
            </a:r>
            <a:endParaRPr lang="ja-JP" sz="2000" dirty="0"/>
          </a:p>
        </p:txBody>
      </p:sp>
      <p:sp>
        <p:nvSpPr>
          <p:cNvPr id="11" name="text"/>
          <p:cNvSpPr txBox="1"/>
          <p:nvPr/>
        </p:nvSpPr>
        <p:spPr>
          <a:xfrm>
            <a:off x="1371600" y="3657600"/>
            <a:ext cx="4754880" cy="10515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値の出どころ</a:t>
            </a:r>
            <a:endParaRPr lang="ja-JP" sz="1800" dirty="0"/>
          </a:p>
          <a:p>
            <a:pPr marL="0" indent="0">
              <a:spcAft>
                <a:spcPts val="400"/>
              </a:spcAft>
              <a:buNone/>
            </a:pPr>
            <a:r>
              <a:rPr lang="ja-JP" sz="1400" dirty="0">
                <a:solidFill>
                  <a:schemeClr val="tx1"/>
                </a:solidFill>
              </a:rPr>
              <a:t>ガイドラインに直接書かれた値か、薬効クラスの推奨の当てはめか、計算値かを表示</a:t>
            </a:r>
            <a:endParaRPr lang="ja-JP" sz="1800" dirty="0"/>
          </a:p>
        </p:txBody>
      </p:sp>
      <p:sp>
        <p:nvSpPr>
          <p:cNvPr id="12" name="badge"/>
          <p:cNvSpPr/>
          <p:nvPr/>
        </p:nvSpPr>
        <p:spPr>
          <a:xfrm>
            <a:off x="548640" y="4846320"/>
            <a:ext cx="566928" cy="566928"/>
          </a:xfrm>
          <a:prstGeom prst="ellipse">
            <a:avLst/>
          </a:prstGeom>
          <a:solidFill>
            <a:schemeClr val="accent1"/>
          </a:solidFill>
          <a:ln/>
        </p:spPr>
        <p:txBody>
          <a:bodyPr/>
          <a:lstStyle/>
          <a:p>
            <a:endParaRPr lang="ja-JP" altLang="en-US"/>
          </a:p>
        </p:txBody>
      </p:sp>
      <p:sp>
        <p:nvSpPr>
          <p:cNvPr id="13" name="badge-label"/>
          <p:cNvSpPr txBox="1"/>
          <p:nvPr/>
        </p:nvSpPr>
        <p:spPr>
          <a:xfrm>
            <a:off x="548640" y="484632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4</a:t>
            </a:r>
            <a:endParaRPr lang="ja-JP" sz="2000" dirty="0"/>
          </a:p>
        </p:txBody>
      </p:sp>
      <p:sp>
        <p:nvSpPr>
          <p:cNvPr id="14" name="text"/>
          <p:cNvSpPr txBox="1"/>
          <p:nvPr/>
        </p:nvSpPr>
        <p:spPr>
          <a:xfrm>
            <a:off x="1371600" y="4800600"/>
            <a:ext cx="4754880" cy="10515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根拠と出典</a:t>
            </a:r>
            <a:endParaRPr lang="ja-JP" sz="1800" dirty="0"/>
          </a:p>
          <a:p>
            <a:pPr marL="0" indent="0">
              <a:spcAft>
                <a:spcPts val="400"/>
              </a:spcAft>
              <a:buNone/>
            </a:pPr>
            <a:r>
              <a:rPr lang="ja-JP" sz="1400" dirty="0">
                <a:solidFill>
                  <a:schemeClr val="tx1"/>
                </a:solidFill>
              </a:rPr>
              <a:t>引用または抜粋、資料の頁・表、PDF の該当頁へのリンク</a:t>
            </a:r>
            <a:endParaRPr lang="ja-JP" sz="1800" dirty="0"/>
          </a:p>
        </p:txBody>
      </p:sp>
      <p:pic>
        <p:nvPicPr>
          <p:cNvPr id="15" name="screenshot" descr="アピキサバンの詳細画面"/>
          <p:cNvPicPr>
            <a:picLocks noChangeAspect="1"/>
          </p:cNvPicPr>
          <p:nvPr/>
        </p:nvPicPr>
        <p:blipFill>
          <a:blip r:embed="rId3"/>
          <a:stretch>
            <a:fillRect/>
          </a:stretch>
        </p:blipFill>
        <p:spPr>
          <a:xfrm>
            <a:off x="6431128" y="1371600"/>
            <a:ext cx="5181600" cy="4663440"/>
          </a:xfrm>
          <a:prstGeom prst="rect">
            <a:avLst/>
          </a:prstGeom>
          <a:effectLst>
            <a:outerShdw blurRad="76200" dist="25400" dir="5400000" algn="bl" rotWithShape="0">
              <a:srgbClr val="000000">
                <a:alpha val="18000"/>
              </a:srgbClr>
            </a:outerShdw>
          </a:effectLst>
        </p:spPr>
      </p:pic>
      <p:sp>
        <p:nvSpPr>
          <p:cNvPr id="16" name="screenshot-frame"/>
          <p:cNvSpPr/>
          <p:nvPr/>
        </p:nvSpPr>
        <p:spPr>
          <a:xfrm>
            <a:off x="6431128" y="1371600"/>
            <a:ext cx="5181600" cy="4663440"/>
          </a:xfrm>
          <a:prstGeom prst="rect">
            <a:avLst/>
          </a:prstGeom>
          <a:ln w="12700">
            <a:solidFill>
              <a:srgbClr val="6E8577"/>
            </a:solidFill>
            <a:prstDash val="solid"/>
          </a:ln>
        </p:spPr>
        <p:txBody>
          <a:bodyPr/>
          <a:lstStyle/>
          <a:p>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使い方 1: 名前の一部・ひらがな・打ち間違いでも引ける</a:t>
            </a:r>
            <a:endParaRPr lang="ja-JP" sz="3000" dirty="0"/>
          </a:p>
        </p:txBody>
      </p:sp>
      <p:pic>
        <p:nvPicPr>
          <p:cNvPr id="3" name="screenshot" descr="「えりきゅーす」で検索してアピキサバンが表示された画面"/>
          <p:cNvPicPr>
            <a:picLocks noChangeAspect="1"/>
          </p:cNvPicPr>
          <p:nvPr/>
        </p:nvPicPr>
        <p:blipFill>
          <a:blip r:embed="rId3"/>
          <a:stretch>
            <a:fillRect/>
          </a:stretch>
        </p:blipFill>
        <p:spPr>
          <a:xfrm>
            <a:off x="548640" y="1371600"/>
            <a:ext cx="6400800" cy="2432304"/>
          </a:xfrm>
          <a:prstGeom prst="rect">
            <a:avLst/>
          </a:prstGeom>
          <a:effectLst>
            <a:outerShdw blurRad="76200" dist="25400" dir="5400000" algn="bl" rotWithShape="0">
              <a:srgbClr val="000000">
                <a:alpha val="18000"/>
              </a:srgbClr>
            </a:outerShdw>
          </a:effectLst>
        </p:spPr>
      </p:pic>
      <p:sp>
        <p:nvSpPr>
          <p:cNvPr id="4" name="screenshot-frame"/>
          <p:cNvSpPr/>
          <p:nvPr/>
        </p:nvSpPr>
        <p:spPr>
          <a:xfrm>
            <a:off x="548640" y="1371600"/>
            <a:ext cx="6400800" cy="2432304"/>
          </a:xfrm>
          <a:prstGeom prst="rect">
            <a:avLst/>
          </a:prstGeom>
          <a:ln w="12700">
            <a:solidFill>
              <a:srgbClr val="6E8577"/>
            </a:solidFill>
            <a:prstDash val="solid"/>
          </a:ln>
        </p:spPr>
        <p:txBody>
          <a:bodyPr/>
          <a:lstStyle/>
          <a:p>
            <a:endParaRPr lang="ja-JP" altLang="en-US"/>
          </a:p>
        </p:txBody>
      </p:sp>
      <p:pic>
        <p:nvPicPr>
          <p:cNvPr id="5" name="screenshot" descr="「ワルハリソ」で該当がなく「もしかして: ワルファリン」が表示された画面"/>
          <p:cNvPicPr>
            <a:picLocks noChangeAspect="1"/>
          </p:cNvPicPr>
          <p:nvPr/>
        </p:nvPicPr>
        <p:blipFill>
          <a:blip r:embed="rId4"/>
          <a:stretch>
            <a:fillRect/>
          </a:stretch>
        </p:blipFill>
        <p:spPr>
          <a:xfrm>
            <a:off x="548640" y="4069080"/>
            <a:ext cx="6400800" cy="1920240"/>
          </a:xfrm>
          <a:prstGeom prst="rect">
            <a:avLst/>
          </a:prstGeom>
          <a:effectLst>
            <a:outerShdw blurRad="76200" dist="25400" dir="5400000" algn="bl" rotWithShape="0">
              <a:srgbClr val="000000">
                <a:alpha val="18000"/>
              </a:srgbClr>
            </a:outerShdw>
          </a:effectLst>
        </p:spPr>
      </p:pic>
      <p:sp>
        <p:nvSpPr>
          <p:cNvPr id="6" name="screenshot-frame"/>
          <p:cNvSpPr/>
          <p:nvPr/>
        </p:nvSpPr>
        <p:spPr>
          <a:xfrm>
            <a:off x="548640" y="4069080"/>
            <a:ext cx="6400800" cy="1920240"/>
          </a:xfrm>
          <a:prstGeom prst="rect">
            <a:avLst/>
          </a:prstGeom>
          <a:ln w="12700">
            <a:solidFill>
              <a:srgbClr val="6E8577"/>
            </a:solidFill>
            <a:prstDash val="solid"/>
          </a:ln>
        </p:spPr>
        <p:txBody>
          <a:bodyPr/>
          <a:lstStyle/>
          <a:p>
            <a:endParaRPr lang="ja-JP" altLang="en-US"/>
          </a:p>
        </p:txBody>
      </p:sp>
      <p:sp>
        <p:nvSpPr>
          <p:cNvPr id="7" name="text"/>
          <p:cNvSpPr txBox="1"/>
          <p:nvPr/>
        </p:nvSpPr>
        <p:spPr>
          <a:xfrm>
            <a:off x="7406640" y="1371600"/>
            <a:ext cx="4236415" cy="4572000"/>
          </a:xfrm>
          <a:prstGeom prst="rect">
            <a:avLst/>
          </a:prstGeom>
          <a:noFill/>
          <a:ln/>
        </p:spPr>
        <p:txBody>
          <a:bodyPr wrap="square" lIns="0" tIns="0" rIns="0" bIns="0" rtlCol="0" anchor="t"/>
          <a:lstStyle/>
          <a:p>
            <a:pPr marL="0" indent="0">
              <a:spcAft>
                <a:spcPts val="600"/>
              </a:spcAft>
              <a:buNone/>
            </a:pPr>
            <a:r>
              <a:rPr lang="ja-JP" sz="1900" b="1" dirty="0">
                <a:solidFill>
                  <a:schemeClr val="tx2"/>
                </a:solidFill>
              </a:rPr>
              <a:t>検索のポイント</a:t>
            </a:r>
            <a:endParaRPr lang="ja-JP" sz="1900" dirty="0"/>
          </a:p>
          <a:p>
            <a:pPr marL="342900" indent="-342900">
              <a:spcAft>
                <a:spcPts val="400"/>
              </a:spcAft>
              <a:buSzPct val="100000"/>
              <a:buChar char="•"/>
            </a:pPr>
            <a:r>
              <a:rPr lang="ja-JP" sz="1500" dirty="0">
                <a:solidFill>
                  <a:schemeClr val="tx1"/>
                </a:solidFill>
              </a:rPr>
              <a:t>一般名・商品名・後発品名のどれでも、一部だけでも検索できる</a:t>
            </a:r>
            <a:endParaRPr lang="ja-JP" sz="1900" dirty="0"/>
          </a:p>
          <a:p>
            <a:pPr marL="342900" indent="-342900">
              <a:spcAft>
                <a:spcPts val="400"/>
              </a:spcAft>
              <a:buSzPct val="100000"/>
              <a:buChar char="•"/>
            </a:pPr>
            <a:r>
              <a:rPr lang="ja-JP" sz="1500" dirty="0">
                <a:solidFill>
                  <a:schemeClr val="tx1"/>
                </a:solidFill>
              </a:rPr>
              <a:t>ひらがなでも引ける (例: 「えりきゅーす」→ アピキサバン)</a:t>
            </a:r>
            <a:endParaRPr lang="ja-JP" sz="1900" dirty="0"/>
          </a:p>
          <a:p>
            <a:pPr marL="342900" indent="-342900">
              <a:spcAft>
                <a:spcPts val="400"/>
              </a:spcAft>
              <a:buSzPct val="100000"/>
              <a:buChar char="•"/>
            </a:pPr>
            <a:r>
              <a:rPr lang="ja-JP" sz="1500" dirty="0">
                <a:solidFill>
                  <a:schemeClr val="tx1"/>
                </a:solidFill>
              </a:rPr>
              <a:t>打ち間違いや表記ゆれを吸収し、該当がなければ「もしかして」の候補を出す</a:t>
            </a:r>
            <a:endParaRPr lang="ja-JP" sz="1900" dirty="0"/>
          </a:p>
          <a:p>
            <a:pPr marL="342900" indent="-342900">
              <a:spcAft>
                <a:spcPts val="400"/>
              </a:spcAft>
              <a:buSzPct val="100000"/>
              <a:buChar char="•"/>
            </a:pPr>
            <a:r>
              <a:rPr lang="ja-JP" sz="1500" dirty="0">
                <a:solidFill>
                  <a:schemeClr val="tx1"/>
                </a:solidFill>
              </a:rPr>
              <a:t>薬効分類のボタン (抗血栓薬・糖尿病薬など) で絞り込める</a:t>
            </a:r>
            <a:endParaRPr lang="ja-JP" sz="1900" dirty="0"/>
          </a:p>
          <a:p>
            <a:pPr marL="342900" indent="-342900">
              <a:spcAft>
                <a:spcPts val="400"/>
              </a:spcAft>
              <a:buSzPct val="100000"/>
              <a:buChar char="•"/>
            </a:pPr>
            <a:r>
              <a:rPr lang="ja-JP" sz="1500" dirty="0">
                <a:solidFill>
                  <a:schemeClr val="tx1"/>
                </a:solidFill>
              </a:rPr>
              <a:t>URL でも検索できる: …/kyuyaku-data/?q=アスピリン</a:t>
            </a:r>
            <a:endParaRPr lang="ja-JP"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使い方 2: ガイドラインごとの値を確かめ、コピーする</a:t>
            </a:r>
            <a:endParaRPr lang="ja-JP" sz="3000" dirty="0"/>
          </a:p>
        </p:txBody>
      </p:sp>
      <p:pic>
        <p:nvPicPr>
          <p:cNvPr id="3" name="screenshot" descr="ガイドライン別の表と、ASRA 2018 の根拠の引用"/>
          <p:cNvPicPr>
            <a:picLocks noChangeAspect="1"/>
          </p:cNvPicPr>
          <p:nvPr/>
        </p:nvPicPr>
        <p:blipFill>
          <a:blip r:embed="rId3"/>
          <a:stretch>
            <a:fillRect/>
          </a:stretch>
        </p:blipFill>
        <p:spPr>
          <a:xfrm>
            <a:off x="548640" y="1325880"/>
            <a:ext cx="4477358" cy="4754880"/>
          </a:xfrm>
          <a:prstGeom prst="rect">
            <a:avLst/>
          </a:prstGeom>
          <a:effectLst>
            <a:outerShdw blurRad="76200" dist="25400" dir="5400000" algn="bl" rotWithShape="0">
              <a:srgbClr val="000000">
                <a:alpha val="18000"/>
              </a:srgbClr>
            </a:outerShdw>
          </a:effectLst>
        </p:spPr>
      </p:pic>
      <p:sp>
        <p:nvSpPr>
          <p:cNvPr id="4" name="screenshot-frame"/>
          <p:cNvSpPr/>
          <p:nvPr/>
        </p:nvSpPr>
        <p:spPr>
          <a:xfrm>
            <a:off x="548640" y="1325880"/>
            <a:ext cx="4477358" cy="4754880"/>
          </a:xfrm>
          <a:prstGeom prst="rect">
            <a:avLst/>
          </a:prstGeom>
          <a:ln w="12700">
            <a:solidFill>
              <a:srgbClr val="6E8577"/>
            </a:solidFill>
            <a:prstDash val="solid"/>
          </a:ln>
        </p:spPr>
        <p:txBody>
          <a:bodyPr/>
          <a:lstStyle/>
          <a:p>
            <a:endParaRPr lang="ja-JP" altLang="en-US"/>
          </a:p>
        </p:txBody>
      </p:sp>
      <p:sp>
        <p:nvSpPr>
          <p:cNvPr id="5" name="text"/>
          <p:cNvSpPr txBox="1"/>
          <p:nvPr/>
        </p:nvSpPr>
        <p:spPr>
          <a:xfrm>
            <a:off x="5303520" y="1371600"/>
            <a:ext cx="3566160" cy="365760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詳細画面</a:t>
            </a:r>
            <a:endParaRPr lang="ja-JP" sz="1800" dirty="0"/>
          </a:p>
          <a:p>
            <a:pPr marL="342900" indent="-342900">
              <a:spcAft>
                <a:spcPts val="400"/>
              </a:spcAft>
              <a:buSzPct val="100000"/>
              <a:buChar char="•"/>
            </a:pPr>
            <a:r>
              <a:rPr lang="ja-JP" sz="1400" dirty="0">
                <a:solidFill>
                  <a:schemeClr val="tx1"/>
                </a:solidFill>
              </a:rPr>
              <a:t>ガイドラインごとの高リスク・低リスクの日数と、値の出どころのラベル</a:t>
            </a:r>
            <a:endParaRPr lang="ja-JP" sz="1800" dirty="0"/>
          </a:p>
          <a:p>
            <a:pPr marL="342900" indent="-342900">
              <a:spcAft>
                <a:spcPts val="400"/>
              </a:spcAft>
              <a:buSzPct val="100000"/>
              <a:buChar char="•"/>
            </a:pPr>
            <a:r>
              <a:rPr lang="ja-JP" sz="1400" dirty="0">
                <a:solidFill>
                  <a:schemeClr val="tx1"/>
                </a:solidFill>
              </a:rPr>
              <a:t>「根拠 (引用または抜粋) と所在」を押すと、原文の該当箇所と頁・表が開く</a:t>
            </a:r>
            <a:endParaRPr lang="ja-JP" sz="1800" dirty="0"/>
          </a:p>
          <a:p>
            <a:pPr marL="342900" indent="-342900">
              <a:spcAft>
                <a:spcPts val="400"/>
              </a:spcAft>
              <a:buSzPct val="100000"/>
              <a:buChar char="•"/>
            </a:pPr>
            <a:r>
              <a:rPr lang="ja-JP" sz="1400" dirty="0">
                <a:solidFill>
                  <a:schemeClr val="tx1"/>
                </a:solidFill>
              </a:rPr>
              <a:t>出典の一覧から PDF の該当頁に移動できる</a:t>
            </a:r>
            <a:endParaRPr lang="ja-JP" sz="1800" dirty="0"/>
          </a:p>
        </p:txBody>
      </p:sp>
      <p:sp>
        <p:nvSpPr>
          <p:cNvPr id="6" name="text"/>
          <p:cNvSpPr txBox="1"/>
          <p:nvPr/>
        </p:nvSpPr>
        <p:spPr>
          <a:xfrm>
            <a:off x="5303520" y="4206240"/>
            <a:ext cx="3566160" cy="1371600"/>
          </a:xfrm>
          <a:prstGeom prst="rect">
            <a:avLst/>
          </a:prstGeom>
          <a:noFill/>
          <a:ln/>
        </p:spPr>
        <p:txBody>
          <a:bodyPr wrap="square" lIns="0" tIns="0" rIns="0" bIns="0" rtlCol="0" anchor="t"/>
          <a:lstStyle/>
          <a:p>
            <a:pPr marL="0" indent="0" algn="l">
              <a:buNone/>
            </a:pPr>
            <a:r>
              <a:rPr lang="ja-JP" sz="1400" dirty="0">
                <a:solidFill>
                  <a:schemeClr val="tx1"/>
                </a:solidFill>
              </a:rPr>
              <a:t>「内容をコピー」で要点をテキストで、「リンクをコピー」でその薬のページの URL を取り出せる。カルテや連絡に貼り付けやすい</a:t>
            </a:r>
            <a:endParaRPr lang="ja-JP" sz="1400" dirty="0"/>
          </a:p>
        </p:txBody>
      </p:sp>
      <p:pic>
        <p:nvPicPr>
          <p:cNvPr id="7" name="screenshot" descr="スマートフォンでの詳細画面"/>
          <p:cNvPicPr>
            <a:picLocks noChangeAspect="1"/>
          </p:cNvPicPr>
          <p:nvPr/>
        </p:nvPicPr>
        <p:blipFill>
          <a:blip r:embed="rId4"/>
          <a:stretch>
            <a:fillRect/>
          </a:stretch>
        </p:blipFill>
        <p:spPr>
          <a:xfrm>
            <a:off x="9235440" y="1325880"/>
            <a:ext cx="2407615" cy="4691763"/>
          </a:xfrm>
          <a:prstGeom prst="rect">
            <a:avLst/>
          </a:prstGeom>
          <a:effectLst>
            <a:outerShdw blurRad="76200" dist="25400" dir="5400000" algn="bl" rotWithShape="0">
              <a:srgbClr val="000000">
                <a:alpha val="18000"/>
              </a:srgbClr>
            </a:outerShdw>
          </a:effectLst>
        </p:spPr>
      </p:pic>
      <p:sp>
        <p:nvSpPr>
          <p:cNvPr id="8" name="screenshot-frame"/>
          <p:cNvSpPr/>
          <p:nvPr/>
        </p:nvSpPr>
        <p:spPr>
          <a:xfrm>
            <a:off x="9235440" y="1325880"/>
            <a:ext cx="2407615" cy="4691763"/>
          </a:xfrm>
          <a:prstGeom prst="rect">
            <a:avLst/>
          </a:prstGeom>
          <a:ln w="12700">
            <a:solidFill>
              <a:srgbClr val="6E8577"/>
            </a:solidFill>
            <a:prstDash val="solid"/>
          </a:ln>
        </p:spPr>
        <p:txBody>
          <a:bodyPr/>
          <a:lstStyle/>
          <a:p>
            <a:endParaRPr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安心して参照していただくために</a:t>
            </a:r>
            <a:endParaRPr lang="ja-JP" sz="3000" dirty="0"/>
          </a:p>
        </p:txBody>
      </p:sp>
      <p:sp>
        <p:nvSpPr>
          <p:cNvPr id="3" name="card"/>
          <p:cNvSpPr/>
          <p:nvPr/>
        </p:nvSpPr>
        <p:spPr>
          <a:xfrm>
            <a:off x="548640" y="1371600"/>
            <a:ext cx="5391760" cy="2148840"/>
          </a:xfrm>
          <a:prstGeom prst="roundRect">
            <a:avLst>
              <a:gd name="adj" fmla="val 5106"/>
            </a:avLst>
          </a:prstGeom>
          <a:solidFill>
            <a:schemeClr val="bg2"/>
          </a:solidFill>
          <a:ln w="12700">
            <a:solidFill>
              <a:srgbClr val="6E8577"/>
            </a:solidFill>
            <a:prstDash val="solid"/>
          </a:ln>
        </p:spPr>
        <p:txBody>
          <a:bodyPr/>
          <a:lstStyle/>
          <a:p>
            <a:endParaRPr lang="ja-JP" altLang="en-US"/>
          </a:p>
        </p:txBody>
      </p:sp>
      <p:sp>
        <p:nvSpPr>
          <p:cNvPr id="4" name="badge"/>
          <p:cNvSpPr/>
          <p:nvPr/>
        </p:nvSpPr>
        <p:spPr>
          <a:xfrm>
            <a:off x="822960" y="1645920"/>
            <a:ext cx="566928" cy="566928"/>
          </a:xfrm>
          <a:prstGeom prst="ellipse">
            <a:avLst/>
          </a:prstGeom>
          <a:solidFill>
            <a:schemeClr val="accent1"/>
          </a:solidFill>
          <a:ln/>
        </p:spPr>
        <p:txBody>
          <a:bodyPr/>
          <a:lstStyle/>
          <a:p>
            <a:endParaRPr lang="ja-JP" altLang="en-US"/>
          </a:p>
        </p:txBody>
      </p:sp>
      <p:sp>
        <p:nvSpPr>
          <p:cNvPr id="5" name="badge-label"/>
          <p:cNvSpPr txBox="1"/>
          <p:nvPr/>
        </p:nvSpPr>
        <p:spPr>
          <a:xfrm>
            <a:off x="822960" y="164592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1</a:t>
            </a:r>
            <a:endParaRPr lang="ja-JP" sz="2000" dirty="0"/>
          </a:p>
        </p:txBody>
      </p:sp>
      <p:sp>
        <p:nvSpPr>
          <p:cNvPr id="6" name="text"/>
          <p:cNvSpPr txBox="1"/>
          <p:nvPr/>
        </p:nvSpPr>
        <p:spPr>
          <a:xfrm>
            <a:off x="1600200" y="1664208"/>
            <a:ext cx="4065880" cy="17373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原文と照合した根拠</a:t>
            </a:r>
            <a:endParaRPr lang="ja-JP" sz="1800" dirty="0"/>
          </a:p>
          <a:p>
            <a:pPr marL="0" indent="0">
              <a:spcAft>
                <a:spcPts val="400"/>
              </a:spcAft>
              <a:buNone/>
            </a:pPr>
            <a:r>
              <a:rPr lang="ja-JP" sz="1400" dirty="0">
                <a:solidFill>
                  <a:schemeClr val="tx1"/>
                </a:solidFill>
              </a:rPr>
              <a:t>原文と照合できた出典だけを「確認済み (verified)」とし、頁・表と引用を記録。152 剤中 142 剤に確認済みの出典がある</a:t>
            </a:r>
            <a:endParaRPr lang="ja-JP" sz="1800" dirty="0"/>
          </a:p>
        </p:txBody>
      </p:sp>
      <p:sp>
        <p:nvSpPr>
          <p:cNvPr id="7" name="card"/>
          <p:cNvSpPr/>
          <p:nvPr/>
        </p:nvSpPr>
        <p:spPr>
          <a:xfrm>
            <a:off x="6251296" y="1371600"/>
            <a:ext cx="5391760" cy="2148840"/>
          </a:xfrm>
          <a:prstGeom prst="roundRect">
            <a:avLst>
              <a:gd name="adj" fmla="val 5106"/>
            </a:avLst>
          </a:prstGeom>
          <a:solidFill>
            <a:schemeClr val="bg2"/>
          </a:solidFill>
          <a:ln w="12700">
            <a:solidFill>
              <a:srgbClr val="6E8577"/>
            </a:solidFill>
            <a:prstDash val="solid"/>
          </a:ln>
        </p:spPr>
        <p:txBody>
          <a:bodyPr/>
          <a:lstStyle/>
          <a:p>
            <a:endParaRPr lang="ja-JP" altLang="en-US"/>
          </a:p>
        </p:txBody>
      </p:sp>
      <p:sp>
        <p:nvSpPr>
          <p:cNvPr id="8" name="badge"/>
          <p:cNvSpPr/>
          <p:nvPr/>
        </p:nvSpPr>
        <p:spPr>
          <a:xfrm>
            <a:off x="6525616" y="1645920"/>
            <a:ext cx="566928" cy="566928"/>
          </a:xfrm>
          <a:prstGeom prst="ellipse">
            <a:avLst/>
          </a:prstGeom>
          <a:solidFill>
            <a:schemeClr val="accent1"/>
          </a:solidFill>
          <a:ln/>
        </p:spPr>
        <p:txBody>
          <a:bodyPr/>
          <a:lstStyle/>
          <a:p>
            <a:endParaRPr lang="ja-JP" altLang="en-US"/>
          </a:p>
        </p:txBody>
      </p:sp>
      <p:sp>
        <p:nvSpPr>
          <p:cNvPr id="9" name="badge-label"/>
          <p:cNvSpPr txBox="1"/>
          <p:nvPr/>
        </p:nvSpPr>
        <p:spPr>
          <a:xfrm>
            <a:off x="6525616" y="164592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2</a:t>
            </a:r>
            <a:endParaRPr lang="ja-JP" sz="2000" dirty="0"/>
          </a:p>
        </p:txBody>
      </p:sp>
      <p:sp>
        <p:nvSpPr>
          <p:cNvPr id="10" name="text"/>
          <p:cNvSpPr txBox="1"/>
          <p:nvPr/>
        </p:nvSpPr>
        <p:spPr>
          <a:xfrm>
            <a:off x="7302856" y="1664208"/>
            <a:ext cx="4065880" cy="17373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版ごとの記録と安全側の表示</a:t>
            </a:r>
            <a:endParaRPr lang="ja-JP" sz="1800" dirty="0"/>
          </a:p>
          <a:p>
            <a:pPr marL="0" indent="0">
              <a:spcAft>
                <a:spcPts val="400"/>
              </a:spcAft>
              <a:buNone/>
            </a:pPr>
            <a:r>
              <a:rPr lang="ja-JP" sz="1400" dirty="0">
                <a:solidFill>
                  <a:schemeClr val="tx1"/>
                </a:solidFill>
              </a:rPr>
              <a:t>ガイドラインは版ごとに記録し、旧版は表示値から外す。表示する日数は現行ガイドラインの最長値</a:t>
            </a:r>
            <a:endParaRPr lang="ja-JP" sz="1800" dirty="0"/>
          </a:p>
        </p:txBody>
      </p:sp>
      <p:sp>
        <p:nvSpPr>
          <p:cNvPr id="11" name="card"/>
          <p:cNvSpPr/>
          <p:nvPr/>
        </p:nvSpPr>
        <p:spPr>
          <a:xfrm>
            <a:off x="548640" y="3749040"/>
            <a:ext cx="5391760" cy="2148840"/>
          </a:xfrm>
          <a:prstGeom prst="roundRect">
            <a:avLst>
              <a:gd name="adj" fmla="val 5106"/>
            </a:avLst>
          </a:prstGeom>
          <a:solidFill>
            <a:schemeClr val="bg2"/>
          </a:solidFill>
          <a:ln w="12700">
            <a:solidFill>
              <a:srgbClr val="6E8577"/>
            </a:solidFill>
            <a:prstDash val="solid"/>
          </a:ln>
        </p:spPr>
        <p:txBody>
          <a:bodyPr/>
          <a:lstStyle/>
          <a:p>
            <a:endParaRPr lang="ja-JP" altLang="en-US"/>
          </a:p>
        </p:txBody>
      </p:sp>
      <p:sp>
        <p:nvSpPr>
          <p:cNvPr id="12" name="badge"/>
          <p:cNvSpPr/>
          <p:nvPr/>
        </p:nvSpPr>
        <p:spPr>
          <a:xfrm>
            <a:off x="822960" y="4023360"/>
            <a:ext cx="566928" cy="566928"/>
          </a:xfrm>
          <a:prstGeom prst="ellipse">
            <a:avLst/>
          </a:prstGeom>
          <a:solidFill>
            <a:schemeClr val="accent1"/>
          </a:solidFill>
          <a:ln/>
        </p:spPr>
        <p:txBody>
          <a:bodyPr/>
          <a:lstStyle/>
          <a:p>
            <a:endParaRPr lang="ja-JP" altLang="en-US"/>
          </a:p>
        </p:txBody>
      </p:sp>
      <p:sp>
        <p:nvSpPr>
          <p:cNvPr id="13" name="badge-label"/>
          <p:cNvSpPr txBox="1"/>
          <p:nvPr/>
        </p:nvSpPr>
        <p:spPr>
          <a:xfrm>
            <a:off x="822960" y="402336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3</a:t>
            </a:r>
            <a:endParaRPr lang="ja-JP" sz="2000" dirty="0"/>
          </a:p>
        </p:txBody>
      </p:sp>
      <p:sp>
        <p:nvSpPr>
          <p:cNvPr id="14" name="text"/>
          <p:cNvSpPr txBox="1"/>
          <p:nvPr/>
        </p:nvSpPr>
        <p:spPr>
          <a:xfrm>
            <a:off x="1600200" y="4041648"/>
            <a:ext cx="4065880" cy="17373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毎月の監視と自動の検査</a:t>
            </a:r>
            <a:endParaRPr lang="ja-JP" sz="1800" dirty="0"/>
          </a:p>
          <a:p>
            <a:pPr marL="0" indent="0">
              <a:spcAft>
                <a:spcPts val="400"/>
              </a:spcAft>
              <a:buNone/>
            </a:pPr>
            <a:r>
              <a:rPr lang="ja-JP" sz="1400" dirty="0">
                <a:solidFill>
                  <a:schemeClr val="tx1"/>
                </a:solidFill>
              </a:rPr>
              <a:t>商品名・薬価基準・ガイドライン・添付文書・新規承認薬の変化を毎月自動で集め、月 1 回作者が確認する。変更のたびに引用・数値を原文と機械的に照合する</a:t>
            </a:r>
            <a:endParaRPr lang="ja-JP" sz="1800" dirty="0"/>
          </a:p>
        </p:txBody>
      </p:sp>
      <p:sp>
        <p:nvSpPr>
          <p:cNvPr id="15" name="card"/>
          <p:cNvSpPr/>
          <p:nvPr/>
        </p:nvSpPr>
        <p:spPr>
          <a:xfrm>
            <a:off x="6251296" y="3749040"/>
            <a:ext cx="5391760" cy="2148840"/>
          </a:xfrm>
          <a:prstGeom prst="roundRect">
            <a:avLst>
              <a:gd name="adj" fmla="val 5106"/>
            </a:avLst>
          </a:prstGeom>
          <a:solidFill>
            <a:schemeClr val="bg2"/>
          </a:solidFill>
          <a:ln w="12700">
            <a:solidFill>
              <a:srgbClr val="6E8577"/>
            </a:solidFill>
            <a:prstDash val="solid"/>
          </a:ln>
        </p:spPr>
        <p:txBody>
          <a:bodyPr/>
          <a:lstStyle/>
          <a:p>
            <a:endParaRPr lang="ja-JP" altLang="en-US"/>
          </a:p>
        </p:txBody>
      </p:sp>
      <p:sp>
        <p:nvSpPr>
          <p:cNvPr id="16" name="badge"/>
          <p:cNvSpPr/>
          <p:nvPr/>
        </p:nvSpPr>
        <p:spPr>
          <a:xfrm>
            <a:off x="6525616" y="4023360"/>
            <a:ext cx="566928" cy="566928"/>
          </a:xfrm>
          <a:prstGeom prst="ellipse">
            <a:avLst/>
          </a:prstGeom>
          <a:solidFill>
            <a:schemeClr val="accent1"/>
          </a:solidFill>
          <a:ln/>
        </p:spPr>
        <p:txBody>
          <a:bodyPr/>
          <a:lstStyle/>
          <a:p>
            <a:endParaRPr lang="ja-JP" altLang="en-US"/>
          </a:p>
        </p:txBody>
      </p:sp>
      <p:sp>
        <p:nvSpPr>
          <p:cNvPr id="17" name="badge-label"/>
          <p:cNvSpPr txBox="1"/>
          <p:nvPr/>
        </p:nvSpPr>
        <p:spPr>
          <a:xfrm>
            <a:off x="6525616" y="4023360"/>
            <a:ext cx="566928" cy="566928"/>
          </a:xfrm>
          <a:prstGeom prst="rect">
            <a:avLst/>
          </a:prstGeom>
          <a:noFill/>
          <a:ln/>
        </p:spPr>
        <p:txBody>
          <a:bodyPr wrap="square" lIns="0" tIns="0" rIns="0" bIns="0" rtlCol="0" anchor="ctr"/>
          <a:lstStyle/>
          <a:p>
            <a:pPr marL="0" indent="0" algn="ctr">
              <a:buNone/>
            </a:pPr>
            <a:r>
              <a:rPr lang="ja-JP" sz="2000" b="1" dirty="0">
                <a:solidFill>
                  <a:schemeClr val="bg1"/>
                </a:solidFill>
              </a:rPr>
              <a:t>4</a:t>
            </a:r>
            <a:endParaRPr lang="ja-JP" sz="2000" dirty="0"/>
          </a:p>
        </p:txBody>
      </p:sp>
      <p:sp>
        <p:nvSpPr>
          <p:cNvPr id="18" name="text"/>
          <p:cNvSpPr txBox="1"/>
          <p:nvPr/>
        </p:nvSpPr>
        <p:spPr>
          <a:xfrm>
            <a:off x="7302856" y="4041648"/>
            <a:ext cx="4065880" cy="17373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作者が確認・承認して反映</a:t>
            </a:r>
            <a:endParaRPr lang="ja-JP" sz="1800" dirty="0"/>
          </a:p>
          <a:p>
            <a:pPr marL="0" indent="0">
              <a:spcAft>
                <a:spcPts val="400"/>
              </a:spcAft>
              <a:buNone/>
            </a:pPr>
            <a:r>
              <a:rPr lang="ja-JP" sz="1400" dirty="0">
                <a:solidFill>
                  <a:schemeClr val="tx1"/>
                </a:solidFill>
              </a:rPr>
              <a:t>休薬日数を自動で書き換えることはしない。作者が原文で確認して承認したものだけ反映する</a:t>
            </a:r>
            <a:endParaRPr lang="ja-JP"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院内マニュアル・チェックリストに使う</a:t>
            </a:r>
            <a:endParaRPr lang="ja-JP" sz="3000" dirty="0"/>
          </a:p>
        </p:txBody>
      </p:sp>
      <p:sp>
        <p:nvSpPr>
          <p:cNvPr id="3" name="card"/>
          <p:cNvSpPr/>
          <p:nvPr/>
        </p:nvSpPr>
        <p:spPr>
          <a:xfrm>
            <a:off x="548640" y="1371600"/>
            <a:ext cx="1737360" cy="2103120"/>
          </a:xfrm>
          <a:prstGeom prst="roundRect">
            <a:avLst>
              <a:gd name="adj" fmla="val 6316"/>
            </a:avLst>
          </a:prstGeom>
          <a:solidFill>
            <a:schemeClr val="accent4"/>
          </a:solidFill>
          <a:ln w="12700">
            <a:solidFill>
              <a:srgbClr val="6E8577"/>
            </a:solidFill>
            <a:prstDash val="solid"/>
          </a:ln>
        </p:spPr>
        <p:txBody>
          <a:bodyPr/>
          <a:lstStyle/>
          <a:p>
            <a:endParaRPr lang="ja-JP" altLang="en-US"/>
          </a:p>
        </p:txBody>
      </p:sp>
      <p:sp>
        <p:nvSpPr>
          <p:cNvPr id="4" name="text"/>
          <p:cNvSpPr txBox="1"/>
          <p:nvPr/>
        </p:nvSpPr>
        <p:spPr>
          <a:xfrm>
            <a:off x="548640" y="1508760"/>
            <a:ext cx="1737360" cy="822960"/>
          </a:xfrm>
          <a:prstGeom prst="rect">
            <a:avLst/>
          </a:prstGeom>
          <a:noFill/>
          <a:ln/>
        </p:spPr>
        <p:txBody>
          <a:bodyPr wrap="square" lIns="0" tIns="0" rIns="0" bIns="0" rtlCol="0" anchor="ctr"/>
          <a:lstStyle/>
          <a:p>
            <a:pPr marL="0" indent="0" algn="ctr">
              <a:buNone/>
            </a:pPr>
            <a:r>
              <a:rPr lang="ja-JP" sz="2600" b="1" dirty="0">
                <a:solidFill>
                  <a:schemeClr val="tx2"/>
                </a:solidFill>
              </a:rPr>
              <a:t>無料</a:t>
            </a:r>
            <a:endParaRPr lang="ja-JP" sz="2600" dirty="0"/>
          </a:p>
        </p:txBody>
      </p:sp>
      <p:sp>
        <p:nvSpPr>
          <p:cNvPr id="5" name="text"/>
          <p:cNvSpPr txBox="1"/>
          <p:nvPr/>
        </p:nvSpPr>
        <p:spPr>
          <a:xfrm>
            <a:off x="640080" y="2377440"/>
            <a:ext cx="1554480" cy="914400"/>
          </a:xfrm>
          <a:prstGeom prst="rect">
            <a:avLst/>
          </a:prstGeom>
          <a:noFill/>
          <a:ln/>
        </p:spPr>
        <p:txBody>
          <a:bodyPr wrap="square" lIns="0" tIns="0" rIns="0" bIns="0" rtlCol="0" anchor="t"/>
          <a:lstStyle/>
          <a:p>
            <a:pPr marL="0" indent="0" algn="ctr">
              <a:buNone/>
            </a:pPr>
            <a:r>
              <a:rPr lang="ja-JP" sz="1300" dirty="0">
                <a:solidFill>
                  <a:schemeClr val="tx1"/>
                </a:solidFill>
              </a:rPr>
              <a:t>利用料は</a:t>
            </a:r>
            <a:endParaRPr lang="ja-JP" sz="1300" dirty="0"/>
          </a:p>
          <a:p>
            <a:pPr marL="0" indent="0" algn="ctr">
              <a:buNone/>
            </a:pPr>
            <a:r>
              <a:rPr lang="ja-JP" sz="1300" dirty="0">
                <a:solidFill>
                  <a:schemeClr val="tx1"/>
                </a:solidFill>
              </a:rPr>
              <a:t>かかりません</a:t>
            </a:r>
            <a:endParaRPr lang="ja-JP" sz="1300" dirty="0"/>
          </a:p>
        </p:txBody>
      </p:sp>
      <p:sp>
        <p:nvSpPr>
          <p:cNvPr id="6" name="card"/>
          <p:cNvSpPr/>
          <p:nvPr/>
        </p:nvSpPr>
        <p:spPr>
          <a:xfrm>
            <a:off x="2468880" y="1371600"/>
            <a:ext cx="1737360" cy="2103120"/>
          </a:xfrm>
          <a:prstGeom prst="roundRect">
            <a:avLst>
              <a:gd name="adj" fmla="val 6316"/>
            </a:avLst>
          </a:prstGeom>
          <a:solidFill>
            <a:schemeClr val="accent4"/>
          </a:solidFill>
          <a:ln w="12700">
            <a:solidFill>
              <a:srgbClr val="6E8577"/>
            </a:solidFill>
            <a:prstDash val="solid"/>
          </a:ln>
        </p:spPr>
        <p:txBody>
          <a:bodyPr/>
          <a:lstStyle/>
          <a:p>
            <a:endParaRPr lang="ja-JP" altLang="en-US"/>
          </a:p>
        </p:txBody>
      </p:sp>
      <p:sp>
        <p:nvSpPr>
          <p:cNvPr id="7" name="text"/>
          <p:cNvSpPr txBox="1"/>
          <p:nvPr/>
        </p:nvSpPr>
        <p:spPr>
          <a:xfrm>
            <a:off x="2468880" y="1508760"/>
            <a:ext cx="1737360" cy="822960"/>
          </a:xfrm>
          <a:prstGeom prst="rect">
            <a:avLst/>
          </a:prstGeom>
          <a:noFill/>
          <a:ln/>
        </p:spPr>
        <p:txBody>
          <a:bodyPr wrap="square" lIns="0" tIns="0" rIns="0" bIns="0" rtlCol="0" anchor="ctr"/>
          <a:lstStyle/>
          <a:p>
            <a:pPr marL="0" indent="0" algn="ctr">
              <a:buNone/>
            </a:pPr>
            <a:r>
              <a:rPr lang="ja-JP" sz="2600" b="1" dirty="0">
                <a:solidFill>
                  <a:schemeClr val="tx2"/>
                </a:solidFill>
              </a:rPr>
              <a:t>商用可</a:t>
            </a:r>
            <a:endParaRPr lang="ja-JP" sz="2600" dirty="0"/>
          </a:p>
        </p:txBody>
      </p:sp>
      <p:sp>
        <p:nvSpPr>
          <p:cNvPr id="8" name="text"/>
          <p:cNvSpPr txBox="1"/>
          <p:nvPr/>
        </p:nvSpPr>
        <p:spPr>
          <a:xfrm>
            <a:off x="2560320" y="2377440"/>
            <a:ext cx="1554480" cy="914400"/>
          </a:xfrm>
          <a:prstGeom prst="rect">
            <a:avLst/>
          </a:prstGeom>
          <a:noFill/>
          <a:ln/>
        </p:spPr>
        <p:txBody>
          <a:bodyPr wrap="square" lIns="0" tIns="0" rIns="0" bIns="0" rtlCol="0" anchor="t"/>
          <a:lstStyle/>
          <a:p>
            <a:pPr marL="0" indent="0" algn="ctr">
              <a:buNone/>
            </a:pPr>
            <a:r>
              <a:rPr lang="ja-JP" sz="1300" dirty="0">
                <a:solidFill>
                  <a:schemeClr val="tx1"/>
                </a:solidFill>
              </a:rPr>
              <a:t>病院・企業でも</a:t>
            </a:r>
            <a:endParaRPr lang="ja-JP" sz="1300" dirty="0"/>
          </a:p>
          <a:p>
            <a:pPr marL="0" indent="0" algn="ctr">
              <a:buNone/>
            </a:pPr>
            <a:r>
              <a:rPr lang="ja-JP" sz="1300" dirty="0">
                <a:solidFill>
                  <a:schemeClr val="tx1"/>
                </a:solidFill>
              </a:rPr>
              <a:t>利用できます</a:t>
            </a:r>
            <a:endParaRPr lang="ja-JP" sz="1300" dirty="0"/>
          </a:p>
        </p:txBody>
      </p:sp>
      <p:sp>
        <p:nvSpPr>
          <p:cNvPr id="9" name="card"/>
          <p:cNvSpPr/>
          <p:nvPr/>
        </p:nvSpPr>
        <p:spPr>
          <a:xfrm>
            <a:off x="4389120" y="1371600"/>
            <a:ext cx="1737360" cy="2103120"/>
          </a:xfrm>
          <a:prstGeom prst="roundRect">
            <a:avLst>
              <a:gd name="adj" fmla="val 6316"/>
            </a:avLst>
          </a:prstGeom>
          <a:solidFill>
            <a:schemeClr val="accent4"/>
          </a:solidFill>
          <a:ln w="12700">
            <a:solidFill>
              <a:srgbClr val="6E8577"/>
            </a:solidFill>
            <a:prstDash val="solid"/>
          </a:ln>
        </p:spPr>
        <p:txBody>
          <a:bodyPr/>
          <a:lstStyle/>
          <a:p>
            <a:endParaRPr lang="ja-JP" altLang="en-US"/>
          </a:p>
        </p:txBody>
      </p:sp>
      <p:sp>
        <p:nvSpPr>
          <p:cNvPr id="10" name="text"/>
          <p:cNvSpPr txBox="1"/>
          <p:nvPr/>
        </p:nvSpPr>
        <p:spPr>
          <a:xfrm>
            <a:off x="4389120" y="1508760"/>
            <a:ext cx="1737360" cy="822960"/>
          </a:xfrm>
          <a:prstGeom prst="rect">
            <a:avLst/>
          </a:prstGeom>
          <a:noFill/>
          <a:ln/>
        </p:spPr>
        <p:txBody>
          <a:bodyPr wrap="square" lIns="0" tIns="0" rIns="0" bIns="0" rtlCol="0" anchor="ctr"/>
          <a:lstStyle/>
          <a:p>
            <a:pPr marL="0" indent="0" algn="ctr">
              <a:buNone/>
            </a:pPr>
            <a:r>
              <a:rPr lang="ja-JP" sz="2600" b="1" dirty="0">
                <a:solidFill>
                  <a:schemeClr val="tx2"/>
                </a:solidFill>
              </a:rPr>
              <a:t>連絡不要</a:t>
            </a:r>
            <a:endParaRPr lang="ja-JP" sz="2600" dirty="0"/>
          </a:p>
        </p:txBody>
      </p:sp>
      <p:sp>
        <p:nvSpPr>
          <p:cNvPr id="11" name="text"/>
          <p:cNvSpPr txBox="1"/>
          <p:nvPr/>
        </p:nvSpPr>
        <p:spPr>
          <a:xfrm>
            <a:off x="4480560" y="2377440"/>
            <a:ext cx="1554480" cy="914400"/>
          </a:xfrm>
          <a:prstGeom prst="rect">
            <a:avLst/>
          </a:prstGeom>
          <a:noFill/>
          <a:ln/>
        </p:spPr>
        <p:txBody>
          <a:bodyPr wrap="square" lIns="0" tIns="0" rIns="0" bIns="0" rtlCol="0" anchor="t"/>
          <a:lstStyle/>
          <a:p>
            <a:pPr marL="0" indent="0" algn="ctr">
              <a:buNone/>
            </a:pPr>
            <a:r>
              <a:rPr lang="ja-JP" sz="1300" dirty="0">
                <a:solidFill>
                  <a:schemeClr val="tx1"/>
                </a:solidFill>
              </a:rPr>
              <a:t>許可や申請は</a:t>
            </a:r>
            <a:endParaRPr lang="ja-JP" sz="1300" dirty="0"/>
          </a:p>
          <a:p>
            <a:pPr marL="0" indent="0" algn="ctr">
              <a:buNone/>
            </a:pPr>
            <a:r>
              <a:rPr lang="ja-JP" sz="1300" dirty="0">
                <a:solidFill>
                  <a:schemeClr val="tx1"/>
                </a:solidFill>
              </a:rPr>
              <a:t>必要ありません</a:t>
            </a:r>
            <a:endParaRPr lang="ja-JP" sz="1300" dirty="0"/>
          </a:p>
        </p:txBody>
      </p:sp>
      <p:sp>
        <p:nvSpPr>
          <p:cNvPr id="12" name="text"/>
          <p:cNvSpPr txBox="1"/>
          <p:nvPr/>
        </p:nvSpPr>
        <p:spPr>
          <a:xfrm>
            <a:off x="548640" y="3703320"/>
            <a:ext cx="5577840" cy="731520"/>
          </a:xfrm>
          <a:prstGeom prst="rect">
            <a:avLst/>
          </a:prstGeom>
          <a:noFill/>
          <a:ln/>
        </p:spPr>
        <p:txBody>
          <a:bodyPr wrap="square" lIns="0" tIns="0" rIns="0" bIns="0" rtlCol="0" anchor="t"/>
          <a:lstStyle/>
          <a:p>
            <a:pPr marL="0" indent="0" algn="l">
              <a:buNone/>
            </a:pPr>
            <a:r>
              <a:rPr lang="ja-JP" sz="1500" b="1" dirty="0">
                <a:solidFill>
                  <a:schemeClr val="tx2"/>
                </a:solidFill>
              </a:rPr>
              <a:t>ライセンスは CC BY 4.0。条件は出典 (帰属表示) を示すことだけです</a:t>
            </a:r>
            <a:endParaRPr lang="ja-JP" sz="1500" dirty="0"/>
          </a:p>
        </p:txBody>
      </p:sp>
      <p:sp>
        <p:nvSpPr>
          <p:cNvPr id="13" name="text"/>
          <p:cNvSpPr txBox="1"/>
          <p:nvPr/>
        </p:nvSpPr>
        <p:spPr>
          <a:xfrm>
            <a:off x="548640" y="4434840"/>
            <a:ext cx="5577840" cy="1097280"/>
          </a:xfrm>
          <a:prstGeom prst="rect">
            <a:avLst/>
          </a:prstGeom>
          <a:noFill/>
          <a:ln/>
        </p:spPr>
        <p:txBody>
          <a:bodyPr wrap="square" lIns="0" tIns="0" rIns="0" bIns="0" rtlCol="0" anchor="t"/>
          <a:lstStyle/>
          <a:p>
            <a:pPr marL="0" indent="0" algn="l">
              <a:buNone/>
            </a:pPr>
            <a:r>
              <a:rPr lang="ja-JP" sz="1300" dirty="0">
                <a:solidFill>
                  <a:schemeClr val="accent5"/>
                </a:solidFill>
              </a:rPr>
              <a:t>改変して使う場合はその旨も書いてください。根拠欄の引用・抜粋は各出典の著作物のため CC BY の対象外です</a:t>
            </a:r>
            <a:endParaRPr lang="ja-JP" sz="1300" dirty="0"/>
          </a:p>
        </p:txBody>
      </p:sp>
      <p:sp>
        <p:nvSpPr>
          <p:cNvPr id="14" name="card"/>
          <p:cNvSpPr/>
          <p:nvPr/>
        </p:nvSpPr>
        <p:spPr>
          <a:xfrm>
            <a:off x="6400800" y="1371600"/>
            <a:ext cx="5242255" cy="4572000"/>
          </a:xfrm>
          <a:prstGeom prst="roundRect">
            <a:avLst>
              <a:gd name="adj" fmla="val 2400"/>
            </a:avLst>
          </a:prstGeom>
          <a:solidFill>
            <a:schemeClr val="bg2"/>
          </a:solidFill>
          <a:ln w="12700">
            <a:solidFill>
              <a:srgbClr val="6E8577"/>
            </a:solidFill>
            <a:prstDash val="solid"/>
          </a:ln>
        </p:spPr>
        <p:txBody>
          <a:bodyPr/>
          <a:lstStyle/>
          <a:p>
            <a:endParaRPr lang="ja-JP" altLang="en-US"/>
          </a:p>
        </p:txBody>
      </p:sp>
      <p:sp>
        <p:nvSpPr>
          <p:cNvPr id="15" name="text"/>
          <p:cNvSpPr txBox="1"/>
          <p:nvPr/>
        </p:nvSpPr>
        <p:spPr>
          <a:xfrm>
            <a:off x="6675120" y="1600200"/>
            <a:ext cx="4693615" cy="118872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マニュアルへの記載例</a:t>
            </a:r>
            <a:endParaRPr lang="ja-JP" sz="1800" dirty="0"/>
          </a:p>
          <a:p>
            <a:pPr marL="0" indent="0">
              <a:spcAft>
                <a:spcPts val="400"/>
              </a:spcAft>
              <a:buNone/>
            </a:pPr>
            <a:r>
              <a:rPr lang="ja-JP" sz="1300" dirty="0">
                <a:solidFill>
                  <a:schemeClr val="tx1"/>
                </a:solidFill>
              </a:rPr>
              <a:t>版と参照日も書いてください。休薬の推奨は改訂されるため、いつの情報かが分からないと古い値が使われ続けるおそれがあります</a:t>
            </a:r>
            <a:endParaRPr lang="ja-JP" sz="1800" dirty="0"/>
          </a:p>
        </p:txBody>
      </p:sp>
      <p:sp>
        <p:nvSpPr>
          <p:cNvPr id="16" name="example-box"/>
          <p:cNvSpPr/>
          <p:nvPr/>
        </p:nvSpPr>
        <p:spPr>
          <a:xfrm>
            <a:off x="6675120" y="3063240"/>
            <a:ext cx="4693615" cy="1691640"/>
          </a:xfrm>
          <a:prstGeom prst="roundRect">
            <a:avLst>
              <a:gd name="adj" fmla="val 4324"/>
            </a:avLst>
          </a:prstGeom>
          <a:solidFill>
            <a:schemeClr val="bg1"/>
          </a:solidFill>
          <a:ln w="12700">
            <a:solidFill>
              <a:srgbClr val="6E8577"/>
            </a:solidFill>
            <a:prstDash val="solid"/>
          </a:ln>
        </p:spPr>
        <p:txBody>
          <a:bodyPr/>
          <a:lstStyle/>
          <a:p>
            <a:endParaRPr lang="ja-JP" altLang="en-US"/>
          </a:p>
        </p:txBody>
      </p:sp>
      <p:sp>
        <p:nvSpPr>
          <p:cNvPr id="17" name="text"/>
          <p:cNvSpPr txBox="1"/>
          <p:nvPr/>
        </p:nvSpPr>
        <p:spPr>
          <a:xfrm>
            <a:off x="6858000" y="3200400"/>
            <a:ext cx="4327855" cy="1463040"/>
          </a:xfrm>
          <a:prstGeom prst="rect">
            <a:avLst/>
          </a:prstGeom>
          <a:noFill/>
          <a:ln/>
        </p:spPr>
        <p:txBody>
          <a:bodyPr wrap="square" lIns="0" tIns="0" rIns="0" bIns="0" rtlCol="0" anchor="ctr"/>
          <a:lstStyle/>
          <a:p>
            <a:pPr marL="0" indent="0" algn="l">
              <a:buNone/>
            </a:pPr>
            <a:r>
              <a:rPr lang="ja-JP" sz="1300" dirty="0">
                <a:solidFill>
                  <a:schemeClr val="tx1"/>
                </a:solidFill>
              </a:rPr>
              <a:t>出典: 梅谷 直亨, 休薬情報データベース (Kyuyaku Data), https://github.com/numero-uno-jpn/kyuyaku-data (CC BY 4.0)</a:t>
            </a:r>
            <a:endParaRPr lang="ja-JP" sz="1300" dirty="0"/>
          </a:p>
          <a:p>
            <a:pPr marL="0" indent="0" algn="l">
              <a:buNone/>
            </a:pPr>
            <a:r>
              <a:rPr lang="ja-JP" sz="1300" dirty="0">
                <a:solidFill>
                  <a:schemeClr val="tx1"/>
                </a:solidFill>
              </a:rPr>
              <a:t>データ版 0.8.0、2026 年 10 月 21 日参照</a:t>
            </a:r>
            <a:endParaRPr lang="ja-JP" sz="1300" dirty="0"/>
          </a:p>
        </p:txBody>
      </p:sp>
      <p:sp>
        <p:nvSpPr>
          <p:cNvPr id="18" name="text"/>
          <p:cNvSpPr txBox="1"/>
          <p:nvPr/>
        </p:nvSpPr>
        <p:spPr>
          <a:xfrm>
            <a:off x="6675120" y="4937760"/>
            <a:ext cx="4693615" cy="731520"/>
          </a:xfrm>
          <a:prstGeom prst="rect">
            <a:avLst/>
          </a:prstGeom>
          <a:noFill/>
          <a:ln/>
        </p:spPr>
        <p:txBody>
          <a:bodyPr wrap="square" lIns="0" tIns="0" rIns="0" bIns="0" rtlCol="0" anchor="t"/>
          <a:lstStyle/>
          <a:p>
            <a:pPr marL="0" indent="0" algn="l">
              <a:buNone/>
            </a:pPr>
            <a:r>
              <a:rPr lang="ja-JP" sz="1300" dirty="0">
                <a:solidFill>
                  <a:schemeClr val="accent5"/>
                </a:solidFill>
              </a:rPr>
              <a:t>データ版は参照アプリの一番下に表示されています</a:t>
            </a:r>
            <a:endParaRPr lang="ja-JP"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電子カルテ・院内システムに組み込む</a:t>
            </a:r>
            <a:endParaRPr lang="ja-JP" sz="30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7373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510735">
                  <a:extLst>
                    <a:ext uri="{9D8B030D-6E8A-4147-A177-3AD203B41FA5}">
                      <a16:colId xmlns:a16="http://schemas.microsoft.com/office/drawing/2014/main" val="20002"/>
                    </a:ext>
                  </a:extLst>
                </a:gridCol>
              </a:tblGrid>
              <a:tr h="0">
                <a:tc>
                  <a:txBody>
                    <a:bodyPr/>
                    <a:lstStyle/>
                    <a:p>
                      <a:pPr marL="0" indent="0">
                        <a:buNone/>
                      </a:pPr>
                      <a:r>
                        <a:rPr lang="ja-JP" sz="1500" b="1" dirty="0">
                          <a:solidFill>
                            <a:schemeClr val="tx2"/>
                          </a:solidFill>
                        </a:rPr>
                        <a:t>用途</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accent4"/>
                    </a:solidFill>
                  </a:tcPr>
                </a:tc>
                <a:tc>
                  <a:txBody>
                    <a:bodyPr/>
                    <a:lstStyle/>
                    <a:p>
                      <a:pPr marL="0" indent="0">
                        <a:buNone/>
                      </a:pPr>
                      <a:r>
                        <a:rPr lang="ja-JP" sz="1500" b="1" dirty="0">
                          <a:solidFill>
                            <a:schemeClr val="tx2"/>
                          </a:solidFill>
                        </a:rPr>
                        <a:t>URL (認証不要)</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accent4"/>
                    </a:solidFill>
                  </a:tcPr>
                </a:tc>
                <a:tc>
                  <a:txBody>
                    <a:bodyPr/>
                    <a:lstStyle/>
                    <a:p>
                      <a:pPr marL="0" indent="0">
                        <a:buNone/>
                      </a:pPr>
                      <a:r>
                        <a:rPr lang="ja-JP" sz="1500" b="1" dirty="0">
                          <a:solidFill>
                            <a:schemeClr val="tx2"/>
                          </a:solidFill>
                        </a:rPr>
                        <a:t>内容</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0">
                <a:tc>
                  <a:txBody>
                    <a:bodyPr/>
                    <a:lstStyle/>
                    <a:p>
                      <a:pPr marL="0" indent="0">
                        <a:buNone/>
                      </a:pPr>
                      <a:r>
                        <a:rPr lang="ja-JP" sz="1500" dirty="0">
                          <a:solidFill>
                            <a:schemeClr val="tx1"/>
                          </a:solidFill>
                        </a:rPr>
                        <a:t>一覧</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500" dirty="0">
                          <a:solidFill>
                            <a:schemeClr val="tx1"/>
                          </a:solidFill>
                        </a:rPr>
                        <a:t>…/kyuyaku-data/v1/drugs.json</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500" dirty="0">
                          <a:solidFill>
                            <a:schemeClr val="tx1"/>
                          </a:solidFill>
                        </a:rPr>
                        <a:t>全薬剤の休薬日数の要約</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ja-JP" sz="1500" dirty="0">
                          <a:solidFill>
                            <a:schemeClr val="tx1"/>
                          </a:solidFill>
                        </a:rPr>
                        <a:t>1 薬の詳細</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tc>
                  <a:txBody>
                    <a:bodyPr/>
                    <a:lstStyle/>
                    <a:p>
                      <a:pPr marL="0" indent="0">
                        <a:buNone/>
                      </a:pPr>
                      <a:r>
                        <a:rPr lang="ja-JP" sz="1500" dirty="0">
                          <a:solidFill>
                            <a:schemeClr val="tx1"/>
                          </a:solidFill>
                        </a:rPr>
                        <a:t>…/v1/drugs/{一般名}.json</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tc>
                  <a:txBody>
                    <a:bodyPr/>
                    <a:lstStyle/>
                    <a:p>
                      <a:pPr marL="0" indent="0">
                        <a:buNone/>
                      </a:pPr>
                      <a:r>
                        <a:rPr lang="ja-JP" sz="1500" dirty="0">
                          <a:solidFill>
                            <a:schemeClr val="tx1"/>
                          </a:solidFill>
                        </a:rPr>
                        <a:t>ガイドラインごとの値・根拠・出典</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ja-JP" sz="1500" dirty="0">
                          <a:solidFill>
                            <a:schemeClr val="tx1"/>
                          </a:solidFill>
                        </a:rPr>
                        <a:t>商品名から引く</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500" dirty="0">
                          <a:solidFill>
                            <a:schemeClr val="tx1"/>
                          </a:solidFill>
                        </a:rPr>
                        <a:t>…/v1/lookup.json</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500" dirty="0">
                          <a:solidFill>
                            <a:schemeClr val="tx1"/>
                          </a:solidFill>
                        </a:rPr>
                        <a:t>一般名・別名・商品名・後発品名 → 一般名</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ja-JP" sz="1500" dirty="0">
                          <a:solidFill>
                            <a:schemeClr val="tx1"/>
                          </a:solidFill>
                        </a:rPr>
                        <a:t>検索</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tc>
                  <a:txBody>
                    <a:bodyPr/>
                    <a:lstStyle/>
                    <a:p>
                      <a:pPr marL="0" indent="0">
                        <a:buNone/>
                      </a:pPr>
                      <a:r>
                        <a:rPr lang="ja-JP" sz="1500" dirty="0">
                          <a:solidFill>
                            <a:schemeClr val="tx1"/>
                          </a:solidFill>
                        </a:rPr>
                        <a:t>kyuyaku-data.numero-uno-jpn.workers.dev/v1/search?q=</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tc>
                  <a:txBody>
                    <a:bodyPr/>
                    <a:lstStyle/>
                    <a:p>
                      <a:pPr marL="0" indent="0">
                        <a:buNone/>
                      </a:pPr>
                      <a:r>
                        <a:rPr lang="ja-JP" sz="1500" dirty="0">
                          <a:solidFill>
                            <a:schemeClr val="tx1"/>
                          </a:solidFill>
                        </a:rPr>
                        <a:t>あいまい検索の結果を一致度順に返す</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ja-JP" sz="1500" dirty="0">
                          <a:solidFill>
                            <a:schemeClr val="tx1"/>
                          </a:solidFill>
                        </a:rPr>
                        <a:t>全件</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500" dirty="0">
                          <a:solidFill>
                            <a:schemeClr val="tx1"/>
                          </a:solidFill>
                        </a:rPr>
                        <a:t>data/washout_public_v1.json</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500" dirty="0">
                          <a:solidFill>
                            <a:schemeClr val="tx1"/>
                          </a:solidFill>
                        </a:rPr>
                        <a:t>全データを 1 ファイルで</a:t>
                      </a:r>
                      <a:endParaRPr lang="ja-JP" sz="15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card"/>
          <p:cNvSpPr/>
          <p:nvPr/>
        </p:nvSpPr>
        <p:spPr>
          <a:xfrm>
            <a:off x="548640" y="3886200"/>
            <a:ext cx="5410048" cy="1828800"/>
          </a:xfrm>
          <a:prstGeom prst="roundRect">
            <a:avLst>
              <a:gd name="adj" fmla="val 6000"/>
            </a:avLst>
          </a:prstGeom>
          <a:solidFill>
            <a:schemeClr val="accent4"/>
          </a:solidFill>
          <a:ln w="12700">
            <a:solidFill>
              <a:srgbClr val="6E8577"/>
            </a:solidFill>
            <a:prstDash val="solid"/>
          </a:ln>
        </p:spPr>
        <p:txBody>
          <a:bodyPr/>
          <a:lstStyle/>
          <a:p>
            <a:endParaRPr lang="ja-JP" altLang="en-US"/>
          </a:p>
        </p:txBody>
      </p:sp>
      <p:sp>
        <p:nvSpPr>
          <p:cNvPr id="5" name="text"/>
          <p:cNvSpPr txBox="1"/>
          <p:nvPr/>
        </p:nvSpPr>
        <p:spPr>
          <a:xfrm>
            <a:off x="822960" y="4069080"/>
            <a:ext cx="4861408" cy="15087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定期的に取り込み直す</a:t>
            </a:r>
            <a:endParaRPr lang="ja-JP" sz="1800" dirty="0"/>
          </a:p>
          <a:p>
            <a:pPr marL="0" indent="0">
              <a:spcAft>
                <a:spcPts val="400"/>
              </a:spcAft>
              <a:buNone/>
            </a:pPr>
            <a:r>
              <a:rPr lang="ja-JP" sz="1500" dirty="0">
                <a:solidFill>
                  <a:schemeClr val="tx1"/>
                </a:solidFill>
              </a:rPr>
              <a:t>データは更新され続けます。院内のマスタに取り込む場合は、meta.json の data_version を確認して定期的に更新してください</a:t>
            </a:r>
            <a:endParaRPr lang="ja-JP" sz="1800" dirty="0"/>
          </a:p>
        </p:txBody>
      </p:sp>
      <p:sp>
        <p:nvSpPr>
          <p:cNvPr id="6" name="card"/>
          <p:cNvSpPr/>
          <p:nvPr/>
        </p:nvSpPr>
        <p:spPr>
          <a:xfrm>
            <a:off x="6233008" y="3886200"/>
            <a:ext cx="5410048" cy="1828800"/>
          </a:xfrm>
          <a:prstGeom prst="roundRect">
            <a:avLst>
              <a:gd name="adj" fmla="val 6000"/>
            </a:avLst>
          </a:prstGeom>
          <a:solidFill>
            <a:schemeClr val="accent4"/>
          </a:solidFill>
          <a:ln w="12700">
            <a:solidFill>
              <a:srgbClr val="6E8577"/>
            </a:solidFill>
            <a:prstDash val="solid"/>
          </a:ln>
        </p:spPr>
        <p:txBody>
          <a:bodyPr/>
          <a:lstStyle/>
          <a:p>
            <a:endParaRPr lang="ja-JP" altLang="en-US"/>
          </a:p>
        </p:txBody>
      </p:sp>
      <p:sp>
        <p:nvSpPr>
          <p:cNvPr id="7" name="text"/>
          <p:cNvSpPr txBox="1"/>
          <p:nvPr/>
        </p:nvSpPr>
        <p:spPr>
          <a:xfrm>
            <a:off x="6507328" y="4069080"/>
            <a:ext cx="4861408" cy="1508760"/>
          </a:xfrm>
          <a:prstGeom prst="rect">
            <a:avLst/>
          </a:prstGeom>
          <a:noFill/>
          <a:ln/>
        </p:spPr>
        <p:txBody>
          <a:bodyPr wrap="square" lIns="0" tIns="0" rIns="0" bIns="0" rtlCol="0" anchor="t"/>
          <a:lstStyle/>
          <a:p>
            <a:pPr marL="0" indent="0">
              <a:spcAft>
                <a:spcPts val="600"/>
              </a:spcAft>
              <a:buNone/>
            </a:pPr>
            <a:r>
              <a:rPr lang="ja-JP" sz="1800" b="1" dirty="0">
                <a:solidFill>
                  <a:schemeClr val="tx2"/>
                </a:solidFill>
              </a:rPr>
              <a:t>表示は安全側の値を</a:t>
            </a:r>
            <a:endParaRPr lang="ja-JP" sz="1800" dirty="0"/>
          </a:p>
          <a:p>
            <a:pPr marL="0" indent="0">
              <a:spcAft>
                <a:spcPts val="400"/>
              </a:spcAft>
              <a:buNone/>
            </a:pPr>
            <a:r>
              <a:rPr lang="ja-JP" sz="1500" dirty="0">
                <a:solidFill>
                  <a:schemeClr val="tx1"/>
                </a:solidFill>
              </a:rPr>
              <a:t>画面には display_* (安全側の値) を使い、ガイドラインごとの値と根拠へたどれるようにしておくと安心です</a:t>
            </a:r>
            <a:endParaRPr lang="ja-JP"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ご利用の際の注意</a:t>
            </a:r>
            <a:endParaRPr lang="ja-JP" sz="3000" dirty="0"/>
          </a:p>
        </p:txBody>
      </p:sp>
      <p:sp>
        <p:nvSpPr>
          <p:cNvPr id="3" name="card"/>
          <p:cNvSpPr/>
          <p:nvPr/>
        </p:nvSpPr>
        <p:spPr>
          <a:xfrm>
            <a:off x="548640" y="1371600"/>
            <a:ext cx="5391760" cy="1783080"/>
          </a:xfrm>
          <a:prstGeom prst="roundRect">
            <a:avLst>
              <a:gd name="adj" fmla="val 6154"/>
            </a:avLst>
          </a:prstGeom>
          <a:solidFill>
            <a:srgbClr val="FFF6E5"/>
          </a:solidFill>
          <a:ln w="12700">
            <a:solidFill>
              <a:srgbClr val="9A6A1F"/>
            </a:solidFill>
            <a:prstDash val="solid"/>
          </a:ln>
        </p:spPr>
        <p:txBody>
          <a:bodyPr/>
          <a:lstStyle/>
          <a:p>
            <a:endParaRPr lang="ja-JP" altLang="en-US"/>
          </a:p>
        </p:txBody>
      </p:sp>
      <p:sp>
        <p:nvSpPr>
          <p:cNvPr id="4" name="text"/>
          <p:cNvSpPr txBox="1"/>
          <p:nvPr/>
        </p:nvSpPr>
        <p:spPr>
          <a:xfrm>
            <a:off x="822960" y="1627632"/>
            <a:ext cx="4843120" cy="1417320"/>
          </a:xfrm>
          <a:prstGeom prst="rect">
            <a:avLst/>
          </a:prstGeom>
          <a:noFill/>
          <a:ln/>
        </p:spPr>
        <p:txBody>
          <a:bodyPr wrap="square" lIns="0" tIns="0" rIns="0" bIns="0" rtlCol="0" anchor="t"/>
          <a:lstStyle/>
          <a:p>
            <a:pPr marL="0" indent="0">
              <a:spcAft>
                <a:spcPts val="600"/>
              </a:spcAft>
              <a:buNone/>
            </a:pPr>
            <a:r>
              <a:rPr lang="ja-JP" sz="1900" b="1" dirty="0">
                <a:solidFill>
                  <a:schemeClr val="accent3"/>
                </a:solidFill>
              </a:rPr>
              <a:t>一般的な目安です</a:t>
            </a:r>
            <a:endParaRPr lang="ja-JP" sz="1900" dirty="0"/>
          </a:p>
          <a:p>
            <a:pPr marL="0" indent="0">
              <a:spcAft>
                <a:spcPts val="400"/>
              </a:spcAft>
              <a:buNone/>
            </a:pPr>
            <a:r>
              <a:rPr lang="ja-JP" sz="1600" dirty="0">
                <a:solidFill>
                  <a:schemeClr val="tx1"/>
                </a:solidFill>
              </a:rPr>
              <a:t>腎機能、血栓リスク、ステント留置後の期間、用量など、個々の患者に応じた判断が必要です</a:t>
            </a:r>
            <a:endParaRPr lang="ja-JP" sz="1900" dirty="0"/>
          </a:p>
        </p:txBody>
      </p:sp>
      <p:sp>
        <p:nvSpPr>
          <p:cNvPr id="5" name="card"/>
          <p:cNvSpPr/>
          <p:nvPr/>
        </p:nvSpPr>
        <p:spPr>
          <a:xfrm>
            <a:off x="6251296" y="1371600"/>
            <a:ext cx="5391760" cy="1783080"/>
          </a:xfrm>
          <a:prstGeom prst="roundRect">
            <a:avLst>
              <a:gd name="adj" fmla="val 6154"/>
            </a:avLst>
          </a:prstGeom>
          <a:solidFill>
            <a:srgbClr val="FFF6E5"/>
          </a:solidFill>
          <a:ln w="12700">
            <a:solidFill>
              <a:srgbClr val="9A6A1F"/>
            </a:solidFill>
            <a:prstDash val="solid"/>
          </a:ln>
        </p:spPr>
        <p:txBody>
          <a:bodyPr/>
          <a:lstStyle/>
          <a:p>
            <a:endParaRPr lang="ja-JP" altLang="en-US"/>
          </a:p>
        </p:txBody>
      </p:sp>
      <p:sp>
        <p:nvSpPr>
          <p:cNvPr id="6" name="text"/>
          <p:cNvSpPr txBox="1"/>
          <p:nvPr/>
        </p:nvSpPr>
        <p:spPr>
          <a:xfrm>
            <a:off x="6525616" y="1627632"/>
            <a:ext cx="4843120" cy="1417320"/>
          </a:xfrm>
          <a:prstGeom prst="rect">
            <a:avLst/>
          </a:prstGeom>
          <a:noFill/>
          <a:ln/>
        </p:spPr>
        <p:txBody>
          <a:bodyPr wrap="square" lIns="0" tIns="0" rIns="0" bIns="0" rtlCol="0" anchor="t"/>
          <a:lstStyle/>
          <a:p>
            <a:pPr marL="0" indent="0">
              <a:spcAft>
                <a:spcPts val="600"/>
              </a:spcAft>
              <a:buNone/>
            </a:pPr>
            <a:r>
              <a:rPr lang="ja-JP" sz="1900" b="1" dirty="0">
                <a:solidFill>
                  <a:schemeClr val="accent3"/>
                </a:solidFill>
              </a:rPr>
              <a:t>休薬しないことが推奨される場合があります</a:t>
            </a:r>
            <a:endParaRPr lang="ja-JP" sz="1900" dirty="0"/>
          </a:p>
          <a:p>
            <a:pPr marL="0" indent="0">
              <a:spcAft>
                <a:spcPts val="400"/>
              </a:spcAft>
              <a:buNone/>
            </a:pPr>
            <a:r>
              <a:rPr lang="ja-JP" sz="1600" dirty="0">
                <a:solidFill>
                  <a:schemeClr val="tx1"/>
                </a:solidFill>
              </a:rPr>
              <a:t>例: 冠動脈ステント留置後のアスピリン継続。日数だけで判断せず、補足と推奨文を確認してください</a:t>
            </a:r>
            <a:endParaRPr lang="ja-JP" sz="1900" dirty="0"/>
          </a:p>
        </p:txBody>
      </p:sp>
      <p:sp>
        <p:nvSpPr>
          <p:cNvPr id="7" name="card"/>
          <p:cNvSpPr/>
          <p:nvPr/>
        </p:nvSpPr>
        <p:spPr>
          <a:xfrm>
            <a:off x="548640" y="3337560"/>
            <a:ext cx="5391760" cy="1783080"/>
          </a:xfrm>
          <a:prstGeom prst="roundRect">
            <a:avLst>
              <a:gd name="adj" fmla="val 6154"/>
            </a:avLst>
          </a:prstGeom>
          <a:solidFill>
            <a:srgbClr val="FFF6E5"/>
          </a:solidFill>
          <a:ln w="12700">
            <a:solidFill>
              <a:srgbClr val="9A6A1F"/>
            </a:solidFill>
            <a:prstDash val="solid"/>
          </a:ln>
        </p:spPr>
        <p:txBody>
          <a:bodyPr/>
          <a:lstStyle/>
          <a:p>
            <a:endParaRPr lang="ja-JP" altLang="en-US"/>
          </a:p>
        </p:txBody>
      </p:sp>
      <p:sp>
        <p:nvSpPr>
          <p:cNvPr id="8" name="text"/>
          <p:cNvSpPr txBox="1"/>
          <p:nvPr/>
        </p:nvSpPr>
        <p:spPr>
          <a:xfrm>
            <a:off x="822960" y="3593592"/>
            <a:ext cx="4843120" cy="1417320"/>
          </a:xfrm>
          <a:prstGeom prst="rect">
            <a:avLst/>
          </a:prstGeom>
          <a:noFill/>
          <a:ln/>
        </p:spPr>
        <p:txBody>
          <a:bodyPr wrap="square" lIns="0" tIns="0" rIns="0" bIns="0" rtlCol="0" anchor="t"/>
          <a:lstStyle/>
          <a:p>
            <a:pPr marL="0" indent="0">
              <a:spcAft>
                <a:spcPts val="600"/>
              </a:spcAft>
              <a:buNone/>
            </a:pPr>
            <a:r>
              <a:rPr lang="ja-JP" sz="1900" b="1" dirty="0">
                <a:solidFill>
                  <a:schemeClr val="accent3"/>
                </a:solidFill>
              </a:rPr>
              <a:t>出血リスクの分類はガイドラインごとに違います</a:t>
            </a:r>
            <a:endParaRPr lang="ja-JP" sz="1900" dirty="0"/>
          </a:p>
          <a:p>
            <a:pPr marL="0" indent="0">
              <a:spcAft>
                <a:spcPts val="400"/>
              </a:spcAft>
              <a:buNone/>
            </a:pPr>
            <a:r>
              <a:rPr lang="ja-JP" sz="1600" dirty="0">
                <a:solidFill>
                  <a:schemeClr val="tx1"/>
                </a:solidFill>
              </a:rPr>
              <a:t>表示する日数はそれらの最長値です。区域麻酔と一般手術・内視鏡では想定する手技が異なります</a:t>
            </a:r>
            <a:endParaRPr lang="ja-JP" sz="1900" dirty="0"/>
          </a:p>
        </p:txBody>
      </p:sp>
      <p:sp>
        <p:nvSpPr>
          <p:cNvPr id="9" name="card"/>
          <p:cNvSpPr/>
          <p:nvPr/>
        </p:nvSpPr>
        <p:spPr>
          <a:xfrm>
            <a:off x="6251296" y="3337560"/>
            <a:ext cx="5391760" cy="1783080"/>
          </a:xfrm>
          <a:prstGeom prst="roundRect">
            <a:avLst>
              <a:gd name="adj" fmla="val 6154"/>
            </a:avLst>
          </a:prstGeom>
          <a:solidFill>
            <a:srgbClr val="FFF6E5"/>
          </a:solidFill>
          <a:ln w="12700">
            <a:solidFill>
              <a:srgbClr val="9A6A1F"/>
            </a:solidFill>
            <a:prstDash val="solid"/>
          </a:ln>
        </p:spPr>
        <p:txBody>
          <a:bodyPr/>
          <a:lstStyle/>
          <a:p>
            <a:endParaRPr lang="ja-JP" altLang="en-US"/>
          </a:p>
        </p:txBody>
      </p:sp>
      <p:sp>
        <p:nvSpPr>
          <p:cNvPr id="10" name="text"/>
          <p:cNvSpPr txBox="1"/>
          <p:nvPr/>
        </p:nvSpPr>
        <p:spPr>
          <a:xfrm>
            <a:off x="6525616" y="3593592"/>
            <a:ext cx="4843120" cy="1417320"/>
          </a:xfrm>
          <a:prstGeom prst="rect">
            <a:avLst/>
          </a:prstGeom>
          <a:noFill/>
          <a:ln/>
        </p:spPr>
        <p:txBody>
          <a:bodyPr wrap="square" lIns="0" tIns="0" rIns="0" bIns="0" rtlCol="0" anchor="t"/>
          <a:lstStyle/>
          <a:p>
            <a:pPr marL="0" indent="0">
              <a:spcAft>
                <a:spcPts val="600"/>
              </a:spcAft>
              <a:buNone/>
            </a:pPr>
            <a:r>
              <a:rPr lang="ja-JP" sz="1900" b="1" dirty="0">
                <a:solidFill>
                  <a:schemeClr val="accent3"/>
                </a:solidFill>
              </a:rPr>
              <a:t>反映までに時間差があります</a:t>
            </a:r>
            <a:endParaRPr lang="ja-JP" sz="1900" dirty="0"/>
          </a:p>
          <a:p>
            <a:pPr marL="0" indent="0">
              <a:spcAft>
                <a:spcPts val="400"/>
              </a:spcAft>
              <a:buNone/>
            </a:pPr>
            <a:r>
              <a:rPr lang="ja-JP" sz="1600" dirty="0">
                <a:solidFill>
                  <a:schemeClr val="tx1"/>
                </a:solidFill>
              </a:rPr>
              <a:t>改訂から反映まで 最大 3 か月程度かかることがあります。重要な判断の際は一次資料を確認してください</a:t>
            </a:r>
            <a:endParaRPr lang="ja-JP" sz="1900" dirty="0"/>
          </a:p>
        </p:txBody>
      </p:sp>
      <p:sp>
        <p:nvSpPr>
          <p:cNvPr id="11" name="card"/>
          <p:cNvSpPr/>
          <p:nvPr/>
        </p:nvSpPr>
        <p:spPr>
          <a:xfrm>
            <a:off x="548640" y="5349240"/>
            <a:ext cx="11094415" cy="594360"/>
          </a:xfrm>
          <a:prstGeom prst="roundRect">
            <a:avLst>
              <a:gd name="adj" fmla="val 18462"/>
            </a:avLst>
          </a:prstGeom>
          <a:solidFill>
            <a:schemeClr val="bg2"/>
          </a:solidFill>
          <a:ln w="12700">
            <a:solidFill>
              <a:srgbClr val="6E8577"/>
            </a:solidFill>
            <a:prstDash val="solid"/>
          </a:ln>
        </p:spPr>
        <p:txBody>
          <a:bodyPr/>
          <a:lstStyle/>
          <a:p>
            <a:endParaRPr lang="ja-JP" altLang="en-US"/>
          </a:p>
        </p:txBody>
      </p:sp>
      <p:sp>
        <p:nvSpPr>
          <p:cNvPr id="12" name="text"/>
          <p:cNvSpPr txBox="1"/>
          <p:nvPr/>
        </p:nvSpPr>
        <p:spPr>
          <a:xfrm>
            <a:off x="822960" y="5349240"/>
            <a:ext cx="10545775" cy="594360"/>
          </a:xfrm>
          <a:prstGeom prst="rect">
            <a:avLst/>
          </a:prstGeom>
          <a:noFill/>
          <a:ln/>
        </p:spPr>
        <p:txBody>
          <a:bodyPr wrap="square" lIns="0" tIns="0" rIns="0" bIns="0" rtlCol="0" anchor="ctr"/>
          <a:lstStyle/>
          <a:p>
            <a:pPr marL="0" indent="0" algn="l">
              <a:buNone/>
            </a:pPr>
            <a:r>
              <a:rPr lang="ja-JP" sz="1300" dirty="0">
                <a:solidFill>
                  <a:schemeClr val="tx1"/>
                </a:solidFill>
              </a:rPr>
              <a:t>最終的な休薬・再開の判断は、担当の医療者が行ってください。本データは無保証で、医療機器 (プログラム医療機器) ではありません</a:t>
            </a:r>
            <a:endParaRPr lang="ja-JP"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更新の流れと、版の確かめ方</a:t>
            </a:r>
            <a:endParaRPr lang="ja-JP" sz="30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5852160" cy="914400"/>
        </p:xfrm>
        <a:graphic>
          <a:graphicData uri="http://schemas.openxmlformats.org/drawingml/2006/table">
            <a:tbl>
              <a:tblPr/>
              <a:tblGrid>
                <a:gridCol w="4114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0">
                <a:tc>
                  <a:txBody>
                    <a:bodyPr/>
                    <a:lstStyle/>
                    <a:p>
                      <a:pPr marL="0" indent="0">
                        <a:buNone/>
                      </a:pPr>
                      <a:r>
                        <a:rPr lang="ja-JP" sz="1600" b="1" dirty="0">
                          <a:solidFill>
                            <a:schemeClr val="tx2"/>
                          </a:solidFill>
                        </a:rPr>
                        <a:t>毎月自動で集める情報</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accent4"/>
                    </a:solidFill>
                  </a:tcPr>
                </a:tc>
                <a:tc>
                  <a:txBody>
                    <a:bodyPr/>
                    <a:lstStyle/>
                    <a:p>
                      <a:pPr marL="0" indent="0">
                        <a:buNone/>
                      </a:pPr>
                      <a:r>
                        <a:rPr lang="ja-JP" sz="1600" b="1" dirty="0">
                          <a:solidFill>
                            <a:schemeClr val="tx2"/>
                          </a:solidFill>
                        </a:rPr>
                        <a:t>情報を集める日</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0">
                <a:tc>
                  <a:txBody>
                    <a:bodyPr/>
                    <a:lstStyle/>
                    <a:p>
                      <a:pPr marL="0" indent="0">
                        <a:buNone/>
                      </a:pPr>
                      <a:r>
                        <a:rPr lang="ja-JP" sz="1600" dirty="0">
                          <a:solidFill>
                            <a:schemeClr val="tx1"/>
                          </a:solidFill>
                        </a:rPr>
                        <a:t>商品名・後発品の追加</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600" dirty="0">
                          <a:solidFill>
                            <a:schemeClr val="tx1"/>
                          </a:solidFill>
                        </a:rPr>
                        <a:t>毎月 1 日</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ja-JP" sz="1600" dirty="0">
                          <a:solidFill>
                            <a:schemeClr val="tx1"/>
                          </a:solidFill>
                        </a:rPr>
                        <a:t>薬価基準の新規収載・名称変更</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tc>
                  <a:txBody>
                    <a:bodyPr/>
                    <a:lstStyle/>
                    <a:p>
                      <a:pPr marL="0" indent="0">
                        <a:buNone/>
                      </a:pPr>
                      <a:r>
                        <a:rPr lang="ja-JP" sz="1600" dirty="0">
                          <a:solidFill>
                            <a:schemeClr val="tx1"/>
                          </a:solidFill>
                        </a:rPr>
                        <a:t>毎月 1 日</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buNone/>
                      </a:pPr>
                      <a:r>
                        <a:rPr lang="ja-JP" sz="1600" dirty="0">
                          <a:solidFill>
                            <a:schemeClr val="tx1"/>
                          </a:solidFill>
                        </a:rPr>
                        <a:t>学会ガイドラインの新版の掲載</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600" dirty="0">
                          <a:solidFill>
                            <a:schemeClr val="tx1"/>
                          </a:solidFill>
                        </a:rPr>
                        <a:t>毎月 5 日</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ja-JP" sz="1600" dirty="0">
                          <a:solidFill>
                            <a:schemeClr val="tx1"/>
                          </a:solidFill>
                        </a:rPr>
                        <a:t>ガイドライン PDF の改訂</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tc>
                  <a:txBody>
                    <a:bodyPr/>
                    <a:lstStyle/>
                    <a:p>
                      <a:pPr marL="0" indent="0">
                        <a:buNone/>
                      </a:pPr>
                      <a:r>
                        <a:rPr lang="ja-JP" sz="1600" dirty="0">
                          <a:solidFill>
                            <a:schemeClr val="tx1"/>
                          </a:solidFill>
                        </a:rPr>
                        <a:t>毎月 7 日</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0">
                <a:tc>
                  <a:txBody>
                    <a:bodyPr/>
                    <a:lstStyle/>
                    <a:p>
                      <a:pPr marL="0" indent="0">
                        <a:buNone/>
                      </a:pPr>
                      <a:r>
                        <a:rPr lang="ja-JP" sz="1600" dirty="0">
                          <a:solidFill>
                            <a:schemeClr val="tx1"/>
                          </a:solidFill>
                        </a:rPr>
                        <a:t>PMDA 添付文書の改訂</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tc>
                  <a:txBody>
                    <a:bodyPr/>
                    <a:lstStyle/>
                    <a:p>
                      <a:pPr marL="0" indent="0">
                        <a:buNone/>
                      </a:pPr>
                      <a:r>
                        <a:rPr lang="ja-JP" sz="1600" dirty="0">
                          <a:solidFill>
                            <a:schemeClr val="tx1"/>
                          </a:solidFill>
                        </a:rPr>
                        <a:t>毎月 9 日</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0">
                <a:tc>
                  <a:txBody>
                    <a:bodyPr/>
                    <a:lstStyle/>
                    <a:p>
                      <a:pPr marL="0" indent="0">
                        <a:buNone/>
                      </a:pPr>
                      <a:r>
                        <a:rPr lang="ja-JP" sz="1600" dirty="0">
                          <a:solidFill>
                            <a:schemeClr val="tx1"/>
                          </a:solidFill>
                        </a:rPr>
                        <a:t>PMDA 新規承認薬</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tc>
                  <a:txBody>
                    <a:bodyPr/>
                    <a:lstStyle/>
                    <a:p>
                      <a:pPr marL="0" indent="0">
                        <a:buNone/>
                      </a:pPr>
                      <a:r>
                        <a:rPr lang="ja-JP" sz="1600" dirty="0">
                          <a:solidFill>
                            <a:schemeClr val="tx1"/>
                          </a:solidFill>
                        </a:rPr>
                        <a:t>配信のたび</a:t>
                      </a:r>
                      <a:endParaRPr lang="ja-JP" sz="1600" dirty="0"/>
                    </a:p>
                  </a:txBody>
                  <a:tcPr marT="54864" marB="54864" anchor="ctr">
                    <a:lnL w="12700" cap="flat" cmpd="sng" algn="ctr">
                      <a:solidFill>
                        <a:srgbClr val="6E8577"/>
                      </a:solidFill>
                      <a:prstDash val="solid"/>
                      <a:round/>
                      <a:headEnd type="none" w="med" len="med"/>
                      <a:tailEnd type="none" w="med" len="med"/>
                    </a:lnL>
                    <a:lnR w="12700" cap="flat" cmpd="sng" algn="ctr">
                      <a:solidFill>
                        <a:srgbClr val="6E8577"/>
                      </a:solidFill>
                      <a:prstDash val="solid"/>
                      <a:round/>
                      <a:headEnd type="none" w="med" len="med"/>
                      <a:tailEnd type="none" w="med" len="med"/>
                    </a:lnR>
                    <a:lnT w="12700" cap="flat" cmpd="sng" algn="ctr">
                      <a:solidFill>
                        <a:srgbClr val="6E8577"/>
                      </a:solidFill>
                      <a:prstDash val="solid"/>
                      <a:round/>
                      <a:headEnd type="none" w="med" len="med"/>
                      <a:tailEnd type="none" w="med" len="med"/>
                    </a:lnT>
                    <a:lnB w="12700" cap="flat" cmpd="sng" algn="ctr">
                      <a:solidFill>
                        <a:srgbClr val="6E8577"/>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4" name="card"/>
          <p:cNvSpPr/>
          <p:nvPr/>
        </p:nvSpPr>
        <p:spPr>
          <a:xfrm>
            <a:off x="6766560" y="1371600"/>
            <a:ext cx="4876495" cy="4206240"/>
          </a:xfrm>
          <a:prstGeom prst="roundRect">
            <a:avLst>
              <a:gd name="adj" fmla="val 2609"/>
            </a:avLst>
          </a:prstGeom>
          <a:solidFill>
            <a:schemeClr val="bg2"/>
          </a:solidFill>
          <a:ln w="12700">
            <a:solidFill>
              <a:srgbClr val="6E8577"/>
            </a:solidFill>
            <a:prstDash val="solid"/>
          </a:ln>
        </p:spPr>
        <p:txBody>
          <a:bodyPr/>
          <a:lstStyle/>
          <a:p>
            <a:endParaRPr lang="ja-JP" altLang="en-US"/>
          </a:p>
        </p:txBody>
      </p:sp>
      <p:sp>
        <p:nvSpPr>
          <p:cNvPr id="5" name="text"/>
          <p:cNvSpPr txBox="1"/>
          <p:nvPr/>
        </p:nvSpPr>
        <p:spPr>
          <a:xfrm>
            <a:off x="7040880" y="1600200"/>
            <a:ext cx="4327855" cy="4114800"/>
          </a:xfrm>
          <a:prstGeom prst="rect">
            <a:avLst/>
          </a:prstGeom>
          <a:noFill/>
          <a:ln/>
        </p:spPr>
        <p:txBody>
          <a:bodyPr wrap="square" lIns="0" tIns="0" rIns="0" bIns="0" rtlCol="0" anchor="t"/>
          <a:lstStyle/>
          <a:p>
            <a:pPr marL="0" indent="0">
              <a:spcAft>
                <a:spcPts val="600"/>
              </a:spcAft>
              <a:buNone/>
            </a:pPr>
            <a:r>
              <a:rPr lang="ja-JP" sz="2000" b="1" dirty="0">
                <a:solidFill>
                  <a:schemeClr val="tx2"/>
                </a:solidFill>
              </a:rPr>
              <a:t>版の確かめ方</a:t>
            </a:r>
            <a:endParaRPr lang="ja-JP" sz="2000" dirty="0"/>
          </a:p>
          <a:p>
            <a:pPr marL="342900" indent="-342900">
              <a:spcAft>
                <a:spcPts val="400"/>
              </a:spcAft>
              <a:buSzPct val="100000"/>
              <a:buChar char="•"/>
            </a:pPr>
            <a:r>
              <a:rPr lang="ja-JP" sz="1600" dirty="0">
                <a:solidFill>
                  <a:schemeClr val="tx1"/>
                </a:solidFill>
              </a:rPr>
              <a:t>参照アプリの一番下に「データ版 0.8.0 (2026-10-18 更新)」のように表示</a:t>
            </a:r>
            <a:endParaRPr lang="ja-JP" sz="2000" dirty="0"/>
          </a:p>
          <a:p>
            <a:pPr marL="342900" indent="-342900">
              <a:spcAft>
                <a:spcPts val="400"/>
              </a:spcAft>
              <a:buSzPct val="100000"/>
              <a:buChar char="•"/>
            </a:pPr>
            <a:r>
              <a:rPr lang="ja-JP" sz="1600" dirty="0">
                <a:solidFill>
                  <a:schemeClr val="tx1"/>
                </a:solidFill>
              </a:rPr>
              <a:t>API では v1/meta.json の data_version と data_updated_at</a:t>
            </a:r>
            <a:endParaRPr lang="ja-JP" sz="2000" dirty="0"/>
          </a:p>
          <a:p>
            <a:pPr marL="342900" indent="-342900">
              <a:spcAft>
                <a:spcPts val="400"/>
              </a:spcAft>
              <a:buSzPct val="100000"/>
              <a:buChar char="•"/>
            </a:pPr>
            <a:r>
              <a:rPr lang="ja-JP" sz="1600" dirty="0">
                <a:solidFill>
                  <a:schemeClr val="tx1"/>
                </a:solidFill>
              </a:rPr>
              <a:t>何が変わったかは、公開リポジトリのコミット履歴で確認できる</a:t>
            </a:r>
            <a:endParaRPr lang="ja-JP" sz="2000" dirty="0"/>
          </a:p>
          <a:p>
            <a:pPr marL="342900" indent="-342900">
              <a:spcAft>
                <a:spcPts val="400"/>
              </a:spcAft>
              <a:buSzPct val="100000"/>
              <a:buChar char="•"/>
            </a:pPr>
            <a:r>
              <a:rPr lang="ja-JP" sz="1600" dirty="0">
                <a:solidFill>
                  <a:schemeClr val="tx1"/>
                </a:solidFill>
              </a:rPr>
              <a:t>院内の資料と版を見比べて、古くなっていないか定期的に確認してください</a:t>
            </a:r>
            <a:endParaRPr lang="ja-JP" sz="2000" dirty="0"/>
          </a:p>
        </p:txBody>
      </p:sp>
      <p:sp>
        <p:nvSpPr>
          <p:cNvPr id="12" name="timelag-note"/>
          <p:cNvSpPr/>
          <p:nvPr/>
        </p:nvSpPr>
        <p:spPr>
          <a:xfrm>
            <a:off x="548640" y="4023360"/>
            <a:ext cx="5852160" cy="1600200"/>
          </a:xfrm>
          <a:prstGeom prst="roundRect">
            <a:avLst>
              <a:gd name="adj" fmla="val 8000"/>
            </a:avLst>
          </a:prstGeom>
          <a:solidFill>
            <a:srgbClr val="FFF6E5"/>
          </a:solidFill>
          <a:ln w="12700">
            <a:solidFill>
              <a:srgbClr val="9A6A1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spcAft>
                <a:spcPts val="400"/>
              </a:spcAft>
            </a:pPr>
            <a:r>
              <a:rPr sz="1400" b="1">
                <a:solidFill>
                  <a:srgbClr val="1A1A1C"/>
                </a:solidFill>
              </a:rPr>
              <a:t>集めた日に反映されるわけではありません</a:t>
            </a:r>
          </a:p>
          <a:p>
            <a:pPr algn="l">
              <a:spcAft>
                <a:spcPts val="400"/>
              </a:spcAft>
            </a:pPr>
            <a:r>
              <a:rPr sz="1400" b="0">
                <a:solidFill>
                  <a:srgbClr val="1A1A1C"/>
                </a:solidFill>
              </a:rPr>
              <a:t>集めた変化は月 1 回まとめて作者に届き、作者が原文で確認・承認してから反映します。ガイドラインや添付文書の改訂から反映まで、最大 3 か月程度かかることがあります</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tx2"/>
                </a:solidFill>
              </a:rPr>
              <a:t>使い始めたら・誤りに気づいたら</a:t>
            </a:r>
            <a:endParaRPr lang="ja-JP" sz="3000" dirty="0"/>
          </a:p>
        </p:txBody>
      </p:sp>
      <p:sp>
        <p:nvSpPr>
          <p:cNvPr id="3" name="card"/>
          <p:cNvSpPr/>
          <p:nvPr/>
        </p:nvSpPr>
        <p:spPr>
          <a:xfrm>
            <a:off x="548640" y="1371600"/>
            <a:ext cx="5391760" cy="4206240"/>
          </a:xfrm>
          <a:prstGeom prst="roundRect">
            <a:avLst>
              <a:gd name="adj" fmla="val 2609"/>
            </a:avLst>
          </a:prstGeom>
          <a:solidFill>
            <a:schemeClr val="bg2"/>
          </a:solidFill>
          <a:ln w="12700">
            <a:solidFill>
              <a:srgbClr val="6E8577"/>
            </a:solidFill>
            <a:prstDash val="solid"/>
          </a:ln>
        </p:spPr>
        <p:txBody>
          <a:bodyPr/>
          <a:lstStyle/>
          <a:p>
            <a:endParaRPr lang="ja-JP" altLang="en-US"/>
          </a:p>
        </p:txBody>
      </p:sp>
      <p:pic>
        <p:nvPicPr>
          <p:cNvPr id="4" name="qr" descr="利用報告フォームの QR コード"/>
          <p:cNvPicPr>
            <a:picLocks noChangeAspect="1"/>
          </p:cNvPicPr>
          <p:nvPr/>
        </p:nvPicPr>
        <p:blipFill>
          <a:blip r:embed="rId3"/>
          <a:stretch>
            <a:fillRect/>
          </a:stretch>
        </p:blipFill>
        <p:spPr>
          <a:xfrm>
            <a:off x="868680" y="1645920"/>
            <a:ext cx="1737360" cy="1737360"/>
          </a:xfrm>
          <a:prstGeom prst="rect">
            <a:avLst/>
          </a:prstGeom>
        </p:spPr>
      </p:pic>
      <p:sp>
        <p:nvSpPr>
          <p:cNvPr id="5" name="text"/>
          <p:cNvSpPr txBox="1"/>
          <p:nvPr/>
        </p:nvSpPr>
        <p:spPr>
          <a:xfrm>
            <a:off x="2880360" y="1645920"/>
            <a:ext cx="2785720" cy="548640"/>
          </a:xfrm>
          <a:prstGeom prst="rect">
            <a:avLst/>
          </a:prstGeom>
          <a:noFill/>
          <a:ln/>
        </p:spPr>
        <p:txBody>
          <a:bodyPr wrap="square" lIns="0" tIns="0" rIns="0" bIns="0" rtlCol="0" anchor="t"/>
          <a:lstStyle/>
          <a:p>
            <a:pPr marL="0" indent="0" algn="l">
              <a:buNone/>
            </a:pPr>
            <a:r>
              <a:rPr lang="ja-JP" sz="2000" b="1" dirty="0">
                <a:solidFill>
                  <a:schemeClr val="tx2"/>
                </a:solidFill>
              </a:rPr>
              <a:t>利用報告フォーム</a:t>
            </a:r>
            <a:endParaRPr lang="ja-JP" sz="2000" dirty="0"/>
          </a:p>
        </p:txBody>
      </p:sp>
      <p:sp>
        <p:nvSpPr>
          <p:cNvPr id="6" name="text"/>
          <p:cNvSpPr txBox="1"/>
          <p:nvPr/>
        </p:nvSpPr>
        <p:spPr>
          <a:xfrm>
            <a:off x="868680" y="3657600"/>
            <a:ext cx="4751680" cy="1737360"/>
          </a:xfrm>
          <a:prstGeom prst="rect">
            <a:avLst/>
          </a:prstGeom>
          <a:noFill/>
          <a:ln/>
        </p:spPr>
        <p:txBody>
          <a:bodyPr wrap="square" lIns="0" tIns="0" rIns="0" bIns="0" rtlCol="0" anchor="t"/>
          <a:lstStyle/>
          <a:p>
            <a:pPr marL="0" indent="0" algn="l">
              <a:buNone/>
            </a:pPr>
            <a:r>
              <a:rPr lang="ja-JP" sz="1600" dirty="0">
                <a:solidFill>
                  <a:schemeClr val="tx1"/>
                </a:solidFill>
              </a:rPr>
              <a:t>使っていただいたら、お知らせいただけると励みになります (任意・内容は公開しません)。施設名・用途・ご意見などを数分で入力できます</a:t>
            </a:r>
            <a:endParaRPr lang="ja-JP" sz="1600" dirty="0"/>
          </a:p>
        </p:txBody>
      </p:sp>
      <p:sp>
        <p:nvSpPr>
          <p:cNvPr id="7" name="card"/>
          <p:cNvSpPr/>
          <p:nvPr/>
        </p:nvSpPr>
        <p:spPr>
          <a:xfrm>
            <a:off x="6251296" y="1371600"/>
            <a:ext cx="5391760" cy="4206240"/>
          </a:xfrm>
          <a:prstGeom prst="roundRect">
            <a:avLst>
              <a:gd name="adj" fmla="val 2609"/>
            </a:avLst>
          </a:prstGeom>
          <a:solidFill>
            <a:schemeClr val="bg2"/>
          </a:solidFill>
          <a:ln w="12700">
            <a:solidFill>
              <a:srgbClr val="6E8577"/>
            </a:solidFill>
            <a:prstDash val="solid"/>
          </a:ln>
        </p:spPr>
        <p:txBody>
          <a:bodyPr/>
          <a:lstStyle/>
          <a:p>
            <a:endParaRPr lang="ja-JP" altLang="en-US"/>
          </a:p>
        </p:txBody>
      </p:sp>
      <p:pic>
        <p:nvPicPr>
          <p:cNvPr id="8" name="qr" descr="誤りの報告の QR コード"/>
          <p:cNvPicPr>
            <a:picLocks noChangeAspect="1"/>
          </p:cNvPicPr>
          <p:nvPr/>
        </p:nvPicPr>
        <p:blipFill>
          <a:blip r:embed="rId4"/>
          <a:stretch>
            <a:fillRect/>
          </a:stretch>
        </p:blipFill>
        <p:spPr>
          <a:xfrm>
            <a:off x="6571336" y="1645920"/>
            <a:ext cx="1737360" cy="1737360"/>
          </a:xfrm>
          <a:prstGeom prst="rect">
            <a:avLst/>
          </a:prstGeom>
        </p:spPr>
      </p:pic>
      <p:sp>
        <p:nvSpPr>
          <p:cNvPr id="9" name="text"/>
          <p:cNvSpPr txBox="1"/>
          <p:nvPr/>
        </p:nvSpPr>
        <p:spPr>
          <a:xfrm>
            <a:off x="8583016" y="1645920"/>
            <a:ext cx="2785720" cy="548640"/>
          </a:xfrm>
          <a:prstGeom prst="rect">
            <a:avLst/>
          </a:prstGeom>
          <a:noFill/>
          <a:ln/>
        </p:spPr>
        <p:txBody>
          <a:bodyPr wrap="square" lIns="0" tIns="0" rIns="0" bIns="0" rtlCol="0" anchor="t"/>
          <a:lstStyle/>
          <a:p>
            <a:pPr marL="0" indent="0" algn="l">
              <a:buNone/>
            </a:pPr>
            <a:r>
              <a:rPr lang="ja-JP" sz="2000" b="1" dirty="0">
                <a:solidFill>
                  <a:schemeClr val="tx2"/>
                </a:solidFill>
              </a:rPr>
              <a:t>誤りの報告</a:t>
            </a:r>
            <a:endParaRPr lang="ja-JP" sz="2000" dirty="0"/>
          </a:p>
        </p:txBody>
      </p:sp>
      <p:sp>
        <p:nvSpPr>
          <p:cNvPr id="10" name="text"/>
          <p:cNvSpPr txBox="1"/>
          <p:nvPr/>
        </p:nvSpPr>
        <p:spPr>
          <a:xfrm>
            <a:off x="6571336" y="3657600"/>
            <a:ext cx="4751680" cy="1737360"/>
          </a:xfrm>
          <a:prstGeom prst="rect">
            <a:avLst/>
          </a:prstGeom>
          <a:noFill/>
          <a:ln/>
        </p:spPr>
        <p:txBody>
          <a:bodyPr wrap="square" lIns="0" tIns="0" rIns="0" bIns="0" rtlCol="0" anchor="t"/>
          <a:lstStyle/>
          <a:p>
            <a:pPr marL="0" indent="0" algn="l">
              <a:buNone/>
            </a:pPr>
            <a:r>
              <a:rPr lang="ja-JP" sz="1600" dirty="0">
                <a:solidFill>
                  <a:schemeClr val="tx1"/>
                </a:solidFill>
              </a:rPr>
              <a:t>内容の誤りや古い記載は、根拠となる一次資料の名称・URL・頁を添えて GitHub の「誤りの報告」からお知らせください。原文で確認し、作者が承認して反映します</a:t>
            </a:r>
            <a:endParaRPr lang="ja-JP"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4415" cy="777240"/>
          </a:xfrm>
          <a:prstGeom prst="rect">
            <a:avLst/>
          </a:prstGeom>
          <a:noFill/>
          <a:ln/>
        </p:spPr>
        <p:txBody>
          <a:bodyPr wrap="square" lIns="0" tIns="0" rIns="0" bIns="0" rtlCol="0" anchor="ctr"/>
          <a:lstStyle/>
          <a:p>
            <a:pPr marL="0" indent="0" algn="l">
              <a:buNone/>
            </a:pPr>
            <a:r>
              <a:rPr lang="ja-JP" sz="3000" b="1" dirty="0">
                <a:solidFill>
                  <a:schemeClr val="bg1"/>
                </a:solidFill>
              </a:rPr>
              <a:t>休薬情報データベース</a:t>
            </a:r>
            <a:endParaRPr lang="ja-JP" sz="3000" dirty="0"/>
          </a:p>
        </p:txBody>
      </p:sp>
      <p:sp>
        <p:nvSpPr>
          <p:cNvPr id="3" name="summary"/>
          <p:cNvSpPr txBox="1"/>
          <p:nvPr/>
        </p:nvSpPr>
        <p:spPr>
          <a:xfrm>
            <a:off x="548640" y="1371600"/>
            <a:ext cx="6400800" cy="3291840"/>
          </a:xfrm>
          <a:prstGeom prst="rect">
            <a:avLst/>
          </a:prstGeom>
          <a:noFill/>
          <a:ln/>
        </p:spPr>
        <p:txBody>
          <a:bodyPr wrap="square" lIns="0" tIns="0" rIns="0" bIns="0" rtlCol="0" anchor="t"/>
          <a:lstStyle/>
          <a:p>
            <a:pPr marL="342900" indent="-342900">
              <a:spcAft>
                <a:spcPts val="1200"/>
              </a:spcAft>
              <a:buSzPct val="100000"/>
              <a:buChar char="•"/>
            </a:pPr>
            <a:r>
              <a:rPr lang="ja-JP" sz="1800" dirty="0">
                <a:solidFill>
                  <a:schemeClr val="bg1"/>
                </a:solidFill>
              </a:rPr>
              <a:t>周術期・造影 CT 検査前の休薬を、一次資料に基づいて確認</a:t>
            </a:r>
            <a:endParaRPr lang="ja-JP" sz="1800" dirty="0"/>
          </a:p>
          <a:p>
            <a:pPr marL="342900" indent="-342900">
              <a:spcAft>
                <a:spcPts val="1200"/>
              </a:spcAft>
              <a:buSzPct val="100000"/>
              <a:buChar char="•"/>
            </a:pPr>
            <a:r>
              <a:rPr lang="ja-JP" sz="1800" dirty="0">
                <a:solidFill>
                  <a:schemeClr val="bg1"/>
                </a:solidFill>
              </a:rPr>
              <a:t>無料・登録不要・商用可。出典と版・参照日を書いて院内マニュアルに</a:t>
            </a:r>
            <a:endParaRPr lang="ja-JP" sz="1800" dirty="0"/>
          </a:p>
          <a:p>
            <a:pPr marL="342900" indent="-342900">
              <a:buSzPct val="100000"/>
              <a:buChar char="•"/>
            </a:pPr>
            <a:r>
              <a:rPr lang="ja-JP" sz="1800" dirty="0">
                <a:solidFill>
                  <a:schemeClr val="bg1"/>
                </a:solidFill>
              </a:rPr>
              <a:t>API・全件データで院内システムにも組み込める</a:t>
            </a:r>
            <a:endParaRPr lang="ja-JP" sz="1800" dirty="0"/>
          </a:p>
        </p:txBody>
      </p:sp>
      <p:sp>
        <p:nvSpPr>
          <p:cNvPr id="4" name="qr-bg"/>
          <p:cNvSpPr/>
          <p:nvPr/>
        </p:nvSpPr>
        <p:spPr>
          <a:xfrm>
            <a:off x="7406640" y="1463040"/>
            <a:ext cx="1280160" cy="1280160"/>
          </a:xfrm>
          <a:prstGeom prst="roundRect">
            <a:avLst>
              <a:gd name="adj" fmla="val 5714"/>
            </a:avLst>
          </a:prstGeom>
          <a:solidFill>
            <a:schemeClr val="bg1"/>
          </a:solidFill>
          <a:ln/>
        </p:spPr>
        <p:txBody>
          <a:bodyPr/>
          <a:lstStyle/>
          <a:p>
            <a:endParaRPr lang="ja-JP" altLang="en-US"/>
          </a:p>
        </p:txBody>
      </p:sp>
      <p:pic>
        <p:nvPicPr>
          <p:cNvPr id="5" name="qr" descr="参照アプリの QR コード"/>
          <p:cNvPicPr>
            <a:picLocks noChangeAspect="1"/>
          </p:cNvPicPr>
          <p:nvPr/>
        </p:nvPicPr>
        <p:blipFill>
          <a:blip r:embed="rId3"/>
          <a:stretch>
            <a:fillRect/>
          </a:stretch>
        </p:blipFill>
        <p:spPr>
          <a:xfrm>
            <a:off x="7479792" y="1536192"/>
            <a:ext cx="1133856" cy="1133856"/>
          </a:xfrm>
          <a:prstGeom prst="rect">
            <a:avLst/>
          </a:prstGeom>
        </p:spPr>
      </p:pic>
      <p:sp>
        <p:nvSpPr>
          <p:cNvPr id="6" name="text"/>
          <p:cNvSpPr txBox="1"/>
          <p:nvPr/>
        </p:nvSpPr>
        <p:spPr>
          <a:xfrm>
            <a:off x="7315200" y="2834640"/>
            <a:ext cx="1463040" cy="640080"/>
          </a:xfrm>
          <a:prstGeom prst="rect">
            <a:avLst/>
          </a:prstGeom>
          <a:noFill/>
          <a:ln/>
        </p:spPr>
        <p:txBody>
          <a:bodyPr wrap="square" lIns="0" tIns="0" rIns="0" bIns="0" rtlCol="0" anchor="t"/>
          <a:lstStyle/>
          <a:p>
            <a:pPr marL="0" indent="0" algn="ctr">
              <a:buNone/>
            </a:pPr>
            <a:r>
              <a:rPr lang="ja-JP" sz="1200" dirty="0">
                <a:solidFill>
                  <a:schemeClr val="bg2"/>
                </a:solidFill>
              </a:rPr>
              <a:t>参照アプリ</a:t>
            </a:r>
            <a:endParaRPr lang="ja-JP" sz="1200" dirty="0"/>
          </a:p>
        </p:txBody>
      </p:sp>
      <p:sp>
        <p:nvSpPr>
          <p:cNvPr id="7" name="qr-bg"/>
          <p:cNvSpPr/>
          <p:nvPr/>
        </p:nvSpPr>
        <p:spPr>
          <a:xfrm>
            <a:off x="8869680" y="1463040"/>
            <a:ext cx="1280160" cy="1280160"/>
          </a:xfrm>
          <a:prstGeom prst="roundRect">
            <a:avLst>
              <a:gd name="adj" fmla="val 5714"/>
            </a:avLst>
          </a:prstGeom>
          <a:solidFill>
            <a:schemeClr val="bg1"/>
          </a:solidFill>
          <a:ln/>
        </p:spPr>
        <p:txBody>
          <a:bodyPr/>
          <a:lstStyle/>
          <a:p>
            <a:endParaRPr lang="ja-JP" altLang="en-US"/>
          </a:p>
        </p:txBody>
      </p:sp>
      <p:pic>
        <p:nvPicPr>
          <p:cNvPr id="8" name="qr" descr="GitHub (データ・仕様)の QR コード"/>
          <p:cNvPicPr>
            <a:picLocks noChangeAspect="1"/>
          </p:cNvPicPr>
          <p:nvPr/>
        </p:nvPicPr>
        <p:blipFill>
          <a:blip r:embed="rId4"/>
          <a:stretch>
            <a:fillRect/>
          </a:stretch>
        </p:blipFill>
        <p:spPr>
          <a:xfrm>
            <a:off x="8942832" y="1536192"/>
            <a:ext cx="1133856" cy="1133856"/>
          </a:xfrm>
          <a:prstGeom prst="rect">
            <a:avLst/>
          </a:prstGeom>
        </p:spPr>
      </p:pic>
      <p:sp>
        <p:nvSpPr>
          <p:cNvPr id="9" name="text"/>
          <p:cNvSpPr txBox="1"/>
          <p:nvPr/>
        </p:nvSpPr>
        <p:spPr>
          <a:xfrm>
            <a:off x="8778240" y="2834640"/>
            <a:ext cx="1463040" cy="640080"/>
          </a:xfrm>
          <a:prstGeom prst="rect">
            <a:avLst/>
          </a:prstGeom>
          <a:noFill/>
          <a:ln/>
        </p:spPr>
        <p:txBody>
          <a:bodyPr wrap="square" lIns="0" tIns="0" rIns="0" bIns="0" rtlCol="0" anchor="t"/>
          <a:lstStyle/>
          <a:p>
            <a:pPr marL="0" indent="0" algn="ctr">
              <a:buNone/>
            </a:pPr>
            <a:r>
              <a:rPr lang="ja-JP" sz="1200" dirty="0">
                <a:solidFill>
                  <a:schemeClr val="bg2"/>
                </a:solidFill>
              </a:rPr>
              <a:t>GitHub (データ・仕様)</a:t>
            </a:r>
            <a:endParaRPr lang="ja-JP" sz="1200" dirty="0"/>
          </a:p>
        </p:txBody>
      </p:sp>
      <p:sp>
        <p:nvSpPr>
          <p:cNvPr id="10" name="qr-bg"/>
          <p:cNvSpPr/>
          <p:nvPr/>
        </p:nvSpPr>
        <p:spPr>
          <a:xfrm>
            <a:off x="10332720" y="1463040"/>
            <a:ext cx="1280160" cy="1280160"/>
          </a:xfrm>
          <a:prstGeom prst="roundRect">
            <a:avLst>
              <a:gd name="adj" fmla="val 5714"/>
            </a:avLst>
          </a:prstGeom>
          <a:solidFill>
            <a:schemeClr val="bg1"/>
          </a:solidFill>
          <a:ln/>
        </p:spPr>
        <p:txBody>
          <a:bodyPr/>
          <a:lstStyle/>
          <a:p>
            <a:endParaRPr lang="ja-JP" altLang="en-US"/>
          </a:p>
        </p:txBody>
      </p:sp>
      <p:pic>
        <p:nvPicPr>
          <p:cNvPr id="11" name="qr" descr="利用報告フォームの QR コード"/>
          <p:cNvPicPr>
            <a:picLocks noChangeAspect="1"/>
          </p:cNvPicPr>
          <p:nvPr/>
        </p:nvPicPr>
        <p:blipFill>
          <a:blip r:embed="rId5"/>
          <a:stretch>
            <a:fillRect/>
          </a:stretch>
        </p:blipFill>
        <p:spPr>
          <a:xfrm>
            <a:off x="10405872" y="1536192"/>
            <a:ext cx="1133856" cy="1133856"/>
          </a:xfrm>
          <a:prstGeom prst="rect">
            <a:avLst/>
          </a:prstGeom>
        </p:spPr>
      </p:pic>
      <p:sp>
        <p:nvSpPr>
          <p:cNvPr id="12" name="text"/>
          <p:cNvSpPr txBox="1"/>
          <p:nvPr/>
        </p:nvSpPr>
        <p:spPr>
          <a:xfrm>
            <a:off x="10241280" y="2834640"/>
            <a:ext cx="1463040" cy="640080"/>
          </a:xfrm>
          <a:prstGeom prst="rect">
            <a:avLst/>
          </a:prstGeom>
          <a:noFill/>
          <a:ln/>
        </p:spPr>
        <p:txBody>
          <a:bodyPr wrap="square" lIns="0" tIns="0" rIns="0" bIns="0" rtlCol="0" anchor="t"/>
          <a:lstStyle/>
          <a:p>
            <a:pPr marL="0" indent="0" algn="ctr">
              <a:buNone/>
            </a:pPr>
            <a:r>
              <a:rPr lang="ja-JP" sz="1200" dirty="0">
                <a:solidFill>
                  <a:schemeClr val="bg2"/>
                </a:solidFill>
              </a:rPr>
              <a:t>利用報告フォーム</a:t>
            </a:r>
            <a:endParaRPr lang="ja-JP" sz="1200" dirty="0"/>
          </a:p>
        </p:txBody>
      </p:sp>
      <p:sp>
        <p:nvSpPr>
          <p:cNvPr id="13" name="contact"/>
          <p:cNvSpPr txBox="1"/>
          <p:nvPr/>
        </p:nvSpPr>
        <p:spPr>
          <a:xfrm>
            <a:off x="7315200" y="3931920"/>
            <a:ext cx="4327855" cy="1463040"/>
          </a:xfrm>
          <a:prstGeom prst="rect">
            <a:avLst/>
          </a:prstGeom>
          <a:noFill/>
          <a:ln/>
        </p:spPr>
        <p:txBody>
          <a:bodyPr wrap="square" lIns="0" tIns="0" rIns="0" bIns="0" rtlCol="0" anchor="t"/>
          <a:lstStyle/>
          <a:p>
            <a:pPr marL="0" indent="0">
              <a:spcAft>
                <a:spcPts val="600"/>
              </a:spcAft>
              <a:buNone/>
            </a:pPr>
            <a:r>
              <a:rPr lang="ja-JP" sz="1600" b="1" dirty="0">
                <a:solidFill>
                  <a:schemeClr val="bg1"/>
                </a:solidFill>
              </a:rPr>
              <a:t>梅谷 直亨 (外科医)</a:t>
            </a:r>
            <a:endParaRPr lang="ja-JP" sz="1600" dirty="0"/>
          </a:p>
          <a:p>
            <a:pPr marL="0" indent="0">
              <a:buNone/>
            </a:pPr>
            <a:r>
              <a:rPr lang="ja-JP" sz="1300" dirty="0">
                <a:solidFill>
                  <a:schemeClr val="bg2"/>
                </a:solidFill>
              </a:rPr>
              <a:t>https://numero-uno-jpn.github.io/kyuyaku-data/</a:t>
            </a:r>
            <a:endParaRPr lang="ja-JP" sz="1600" dirty="0"/>
          </a:p>
          <a:p>
            <a:pPr marL="0" indent="0">
              <a:buNone/>
            </a:pPr>
            <a:r>
              <a:rPr lang="ja-JP" sz="1300" dirty="0">
                <a:solidFill>
                  <a:schemeClr val="bg2"/>
                </a:solidFill>
              </a:rPr>
              <a:t>https://github.com/numero-uno-jpn/kyuyaku-data</a:t>
            </a:r>
            <a:endParaRPr lang="ja-JP" sz="1600" dirty="0"/>
          </a:p>
        </p:txBody>
      </p:sp>
    </p:spTree>
  </p:cSld>
  <p:clrMapOvr>
    <a:masterClrMapping/>
  </p:clrMapOvr>
</p:sld>
</file>

<file path=ppt/theme/theme1.xml><?xml version="1.0" encoding="utf-8"?>
<a:theme xmlns:a="http://schemas.openxmlformats.org/drawingml/2006/main" name="Kyuyaku Data">
  <a:themeElements>
    <a:clrScheme name="Kyuyaku Data">
      <a:dk1>
        <a:srgbClr val="1A1A1C"/>
      </a:dk1>
      <a:lt1>
        <a:srgbClr val="FFFFFF"/>
      </a:lt1>
      <a:dk2>
        <a:srgbClr val="14532D"/>
      </a:dk2>
      <a:lt2>
        <a:srgbClr val="EEF5F0"/>
      </a:lt2>
      <a:accent1>
        <a:srgbClr val="2B6648"/>
      </a:accent1>
      <a:accent2>
        <a:srgbClr val="B3261E"/>
      </a:accent2>
      <a:accent3>
        <a:srgbClr val="8A5300"/>
      </a:accent3>
      <a:accent4>
        <a:srgbClr val="D5E8DC"/>
      </a:accent4>
      <a:accent5>
        <a:srgbClr val="454D49"/>
      </a:accent5>
      <a:accent6>
        <a:srgbClr val="1F6F8B"/>
      </a:accent6>
      <a:hlink>
        <a:srgbClr val="1F6F8B"/>
      </a:hlink>
      <a:folHlink>
        <a:srgbClr val="5F6B66"/>
      </a:folHlink>
    </a:clrScheme>
    <a:fontScheme name="Kyuyaku Data">
      <a:majorFont>
        <a:latin typeface="BIZ UDPGothic"/>
        <a:ea typeface="BIZ UDPGothic"/>
        <a:cs typeface=""/>
        <a:font script="Jpan" typeface="BIZ UDPGothic"/>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BIZ UDPGothic"/>
        <a:cs typeface=""/>
        <a:font script="Jpan" typeface="BIZ UDP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1485</Words>
  <Application>Microsoft Office PowerPoint</Application>
  <PresentationFormat>ワイド画面</PresentationFormat>
  <Paragraphs>152</Paragraphs>
  <Slides>12</Slides>
  <Notes>12</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12</vt:i4>
      </vt:variant>
    </vt:vector>
  </HeadingPairs>
  <TitlesOfParts>
    <vt:vector size="14" baseType="lpstr">
      <vt:lpstr>Arial</vt:lpstr>
      <vt:lpstr>Kyuyaku Data</vt:lpstr>
      <vt:lpstr>休薬情報データベース 病院での活用のご案内</vt:lpstr>
      <vt:lpstr>こんな場面で役立ちます</vt:lpstr>
      <vt:lpstr>1 剤ごとに分かること</vt:lpstr>
      <vt:lpstr>使い方 1: 名前の一部・ひらがな・打ち間違いでも引ける</vt:lpstr>
      <vt:lpstr>使い方 2: ガイドラインごとの値を確かめ、コピーする</vt:lpstr>
      <vt:lpstr>安心して参照していただくために</vt:lpstr>
      <vt:lpstr>院内マニュアル・チェックリストに使う</vt:lpstr>
      <vt:lpstr>電子カルテ・院内システムに組み込む</vt:lpstr>
      <vt:lpstr>ご利用の際の注意</vt:lpstr>
      <vt:lpstr>更新の頻度と、版の確かめ方</vt:lpstr>
      <vt:lpstr>使い始めたら・誤りに気づいたら</vt:lpstr>
      <vt:lpstr>休薬情報データベース</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休薬情報データベース 病院での活用のご案内</dc:title>
  <dc:subject>PptxGenJS Presentation</dc:subject>
  <dc:creator>梅谷 直亨</dc:creator>
  <cp:lastModifiedBy>直亨 梅谷</cp:lastModifiedBy>
  <cp:revision>2</cp:revision>
  <dcterms:created xsi:type="dcterms:W3CDTF">2026-10-20T22:33:48Z</dcterms:created>
  <dcterms:modified xsi:type="dcterms:W3CDTF">2026-10-21T00:28:52Z</dcterms:modified>
</cp:coreProperties>
</file>